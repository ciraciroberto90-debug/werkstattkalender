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Begrüßung. Ein Werkzeug, das die Werkstatt selbst eingeführt hat und das heute produktiv auf allen Werkstatt-Rechnern läuft - als Desktop-Programm, mit den Daten auf unserem Firmenlaufwerk.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Kurzer Überblick über den Ablauf - acht Stationen, viele Bildschirmfotos, am Ende der Ausblick und das Angebot zum Rundgang.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Der rote Faden dieser Folie ist Transparenz: Zahlen und Diagramme statt Bauchgefühl, eine Oberfläche, die jeder versteht - damit wird jeder Mitarbeiter abgeholt und die Arbeit der Werkstatt sichtbar. Die einzelnen Funktionen kommen auf den nächsten Folien.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Kernbotschaft: bewusst einfach. Alles bleibt im Haus, die Rechte regelt das Laufwerk, Updates verteilen sich von selbst über den grünen Balken.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Der Startbildschirm jedes Rechners. Alles Wichtige ohne einen einzigen Klick - auch für reine Leser wie Betriebsleitung oder Nachbarabteilungen.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Niemand schreibt den Plan mehr von Hand fort. Die Rotation rechnet die App, Liegengebliebenes bleibt ehrlich sichtbar.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 entsteht die Wocheneinteilung in Minuten. Auf Robertos Ansage bleiben erledigt gemeldete Arbeiten sichtbar im Plan stehen.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Jede Störung wird ein sauberer Bericht mit Nummer, Schicht, Ausfallzeit, Ursache und Foto. Der Schichtbericht der letzten drei Schichten kommt auf Knopfdruck.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Der Auditor fragt - die App antwortet: Register öffnen oder Blatt drucken. Keine Zettelwirtschaft, keine Suche in Ordnern.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Sicherheit in zwei Richtungen: gegen Datenverlust (Zusammenführen, Sicherungen, Selbstheilung, Wächter) und gegen Abfluss (alles bleibt auf dem Laufwerk).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Das unterscheidet das Cockpit von einer gewachsenen Excel-Lösung: Alles ist automatisiert getestet. Die Zahlen stammen aus dem Volllauf vom 07.09.2026: 61 Suiten, 1.067 Einzelprüfungen, kein Fehlschlag.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 Hochrechnung: Ein volles Werkstatt-Jahr sind rund 4.500 Einträge - die gemessene Messfahrt entspricht damit rund 8 Jahren und blieb flüssig; der Prüfstand ist für die nächste Fahrt bereits auf 67.800 Einträge hochgestellt. Dazu die zwei Steuerungs-Beispiele: Speicher-Warnung plus Jahres-Archiv, und Fotos, die nie in die Datendatei wandern. Abschluss: Klartext-Format, Export jederzeit.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Kurz und ehrlich: Es gab keine Anschaffung, es gibt keine laufenden Kosten und keinen IT-Betriebsaufwand. Der Gewinn ist Zeit - beim Planen, bei der Übergabe, vor Audits - und dass nichts mehr verloren geht.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Bewusst ehrlich in beide Richtungen: Gekaufte Systeme bringen Support und Funktionsbreite, kosten aber jedes Jahr und zwingen die Abläufe in ihr Korsett. Der Eigenbau ist passgenau und kostenfrei; die offene Flanke - Pflege und Übergabe - ist benannt und steht als Punkt in der Roll-out-Liste.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Links: fest vorgemerkt. Rechts: möglich auf Zuruf - allen voran die Ersatzteil-Übersicht mit Einkaufs-Liste; die Nachbestell-Markierung in den Störberichten ist dafür schon der erste Baustein.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Einmalig die Master-Kopie auf den Rechner, ab dann kommen alle Updates über den grünen Balken vom Laufwerk. Die PDF-Anleitung führt Schritt für Schritt durch - für Bearbeiter- wie Leser-Rechner.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Abschluss: Angebot für einen Rundgang am echten System. Lesezugang kostet nichts und zeigt mehr als jede Folie.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226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554480"/>
            <a:ext cx="5577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Werkstatt-Cockpit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640080" y="2514600"/>
            <a:ext cx="5394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Instandhaltung, Schichtbuch und Störberichte –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CADC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Programm auf jedem Werkstatt-Rechner.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40080" y="5989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FA8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Vorstellung für die Betriebsleitung</a:t>
            </a:r>
            <a:pPr indent="0" marL="0">
              <a:buNone/>
            </a:pPr>
            <a:r>
              <a:rPr lang="en-US" sz="1300" dirty="0">
                <a:solidFill>
                  <a:srgbClr val="8FA8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·   Stand 07.09.2026   ·   Roberto Ciraci, Werkstatt</a:t>
            </a:r>
            <a:endParaRPr lang="en-US" sz="1300" dirty="0"/>
          </a:p>
        </p:txBody>
      </p:sp>
      <p:pic>
        <p:nvPicPr>
          <p:cNvPr id="5" name="Image 0" descr="/tmp/claude-0/-home-user-WerkstattKalender/8b2eab4a-3225-51dd-900c-dbf3d21c0a06/scratchpad/doku-shots/uebersic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1234440"/>
            <a:ext cx="5257800" cy="3532584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9AA2AA">
                <a:alpha val="45000"/>
              </a:srgb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Worum es heute geht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22960" y="1353312"/>
            <a:ext cx="402336" cy="402336"/>
          </a:xfrm>
          <a:prstGeom prst="ellipse">
            <a:avLst/>
          </a:prstGeom>
          <a:solidFill>
            <a:srgbClr val="2F669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417320" y="132588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 wir standen – und wo wir heute sind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1956816"/>
            <a:ext cx="402336" cy="402336"/>
          </a:xfrm>
          <a:prstGeom prst="ellipse">
            <a:avLst/>
          </a:prstGeom>
          <a:solidFill>
            <a:srgbClr val="2F669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417320" y="1929384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ist das Werkstatt-Cockpit?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2560320"/>
            <a:ext cx="402336" cy="402336"/>
          </a:xfrm>
          <a:prstGeom prst="ellipse">
            <a:avLst/>
          </a:prstGeom>
          <a:solidFill>
            <a:srgbClr val="2F669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417320" y="2532888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App im Alltag: Übersicht · Wartung &amp; Rundgänge · Wochenplanung · Störberichte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2960" y="3163824"/>
            <a:ext cx="402336" cy="402336"/>
          </a:xfrm>
          <a:prstGeom prst="ellipse">
            <a:avLst/>
          </a:prstGeom>
          <a:solidFill>
            <a:srgbClr val="2F669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417320" y="3136392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Beim Audit: Nachweise auf Knopfdruck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22960" y="3767328"/>
            <a:ext cx="402336" cy="402336"/>
          </a:xfrm>
          <a:prstGeom prst="ellipse">
            <a:avLst/>
          </a:prstGeom>
          <a:solidFill>
            <a:srgbClr val="2F669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417320" y="3739896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Gemeinsame Nutzung, Sicherheit und Verlässlichkeit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22960" y="4370832"/>
            <a:ext cx="402336" cy="402336"/>
          </a:xfrm>
          <a:prstGeom prst="ellipse">
            <a:avLst/>
          </a:prstGeom>
          <a:solidFill>
            <a:srgbClr val="2F669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417320" y="434340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Daten: Zukunftssicherheit und Belastungsgrenzen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22960" y="4974336"/>
            <a:ext cx="402336" cy="402336"/>
          </a:xfrm>
          <a:prstGeom prst="ellipse">
            <a:avLst/>
          </a:prstGeom>
          <a:solidFill>
            <a:srgbClr val="2F669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417320" y="4946904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Kosten &amp; Ersparnis – und der Vergleich mit gekaufter Software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22960" y="5577840"/>
            <a:ext cx="402336" cy="402336"/>
          </a:xfrm>
          <a:prstGeom prst="ellipse">
            <a:avLst/>
          </a:prstGeom>
          <a:solidFill>
            <a:srgbClr val="2F669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417320" y="5550408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noch kommt – und der Einstieg am Arbeitsplatz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 wir standen – und wo wir heute sind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87552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23A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VORHER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92240" y="987552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7D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HEUTE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1371600"/>
            <a:ext cx="5212080" cy="786384"/>
          </a:xfrm>
          <a:prstGeom prst="roundRect">
            <a:avLst>
              <a:gd name="adj" fmla="val 6977"/>
            </a:avLst>
          </a:prstGeom>
          <a:solidFill>
            <a:srgbClr val="FAF3F2"/>
          </a:solidFill>
          <a:ln w="9525">
            <a:solidFill>
              <a:srgbClr val="EAD6D3"/>
            </a:solidFill>
          </a:ln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Stände und Zahlen steckten in Köpfen, Ordnern und Excel-Tabellen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806440" y="1481328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F6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492240" y="1371600"/>
            <a:ext cx="5212080" cy="786384"/>
          </a:xfrm>
          <a:prstGeom prst="roundRect">
            <a:avLst>
              <a:gd name="adj" fmla="val 6977"/>
            </a:avLst>
          </a:prstGeom>
          <a:solidFill>
            <a:srgbClr val="EFF6F1"/>
          </a:solidFill>
          <a:ln w="9525">
            <a:solidFill>
              <a:srgbClr val="D3E5D9"/>
            </a:solidFill>
          </a:ln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Transparenz für alle: Quoten, Trends und Ausfallzeiten als Zahlen und Diagramme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02920" y="2304288"/>
            <a:ext cx="5212080" cy="786384"/>
          </a:xfrm>
          <a:prstGeom prst="roundRect">
            <a:avLst>
              <a:gd name="adj" fmla="val 6977"/>
            </a:avLst>
          </a:prstGeom>
          <a:solidFill>
            <a:srgbClr val="FAF3F2"/>
          </a:solidFill>
          <a:ln w="9525">
            <a:solidFill>
              <a:srgbClr val="EAD6D3"/>
            </a:solidFill>
          </a:ln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Schichtübergabe aus dem Gedächtnis – Wichtiges ging unter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806440" y="241401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F6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92240" y="2304288"/>
            <a:ext cx="5212080" cy="786384"/>
          </a:xfrm>
          <a:prstGeom prst="roundRect">
            <a:avLst>
              <a:gd name="adj" fmla="val 6977"/>
            </a:avLst>
          </a:prstGeom>
          <a:solidFill>
            <a:srgbClr val="EFF6F1"/>
          </a:solidFill>
          <a:ln w="9525">
            <a:solidFill>
              <a:srgbClr val="D3E5D9"/>
            </a:solidFill>
          </a:ln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Übersicht und Pinnwand: die nächste Schicht sieht alles sofort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02920" y="3236976"/>
            <a:ext cx="5212080" cy="786384"/>
          </a:xfrm>
          <a:prstGeom prst="roundRect">
            <a:avLst>
              <a:gd name="adj" fmla="val 6977"/>
            </a:avLst>
          </a:prstGeom>
          <a:solidFill>
            <a:srgbClr val="FAF3F2"/>
          </a:solidFill>
          <a:ln w="9525">
            <a:solidFill>
              <a:srgbClr val="EAD6D3"/>
            </a:solidFill>
          </a:ln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Jeder kannte nur seinen Teil – das Ganze war schwer zu durchschauen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806440" y="3346704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F6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492240" y="3236976"/>
            <a:ext cx="5212080" cy="786384"/>
          </a:xfrm>
          <a:prstGeom prst="roundRect">
            <a:avLst>
              <a:gd name="adj" fmla="val 6977"/>
            </a:avLst>
          </a:prstGeom>
          <a:solidFill>
            <a:srgbClr val="EFF6F1"/>
          </a:solidFill>
          <a:ln w="9525">
            <a:solidFill>
              <a:srgbClr val="D3E5D9"/>
            </a:solidFill>
          </a:ln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Oberfläche für alles – als Werkstatt einfach zu verstehen, jeder Mitarbeiter wird abgeholt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502920" y="4169664"/>
            <a:ext cx="5212080" cy="786384"/>
          </a:xfrm>
          <a:prstGeom prst="roundRect">
            <a:avLst>
              <a:gd name="adj" fmla="val 6977"/>
            </a:avLst>
          </a:prstGeom>
          <a:solidFill>
            <a:srgbClr val="FAF3F2"/>
          </a:solidFill>
          <a:ln w="9525">
            <a:solidFill>
              <a:srgbClr val="EAD6D3"/>
            </a:solidFill>
          </a:ln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Leistung der Werkstatt blieb unsichtbar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806440" y="4279392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F6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6492240" y="4169664"/>
            <a:ext cx="5212080" cy="786384"/>
          </a:xfrm>
          <a:prstGeom prst="roundRect">
            <a:avLst>
              <a:gd name="adj" fmla="val 6977"/>
            </a:avLst>
          </a:prstGeom>
          <a:solidFill>
            <a:srgbClr val="EFF6F1"/>
          </a:solidFill>
          <a:ln w="9525">
            <a:solidFill>
              <a:srgbClr val="D3E5D9"/>
            </a:solidFill>
          </a:ln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Erledigte Wartung und behobene Störungen stehen schwarz auf weiß – die Arbeit wird sichtbar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502920" y="5102352"/>
            <a:ext cx="5212080" cy="786384"/>
          </a:xfrm>
          <a:prstGeom prst="roundRect">
            <a:avLst>
              <a:gd name="adj" fmla="val 6977"/>
            </a:avLst>
          </a:prstGeom>
          <a:solidFill>
            <a:srgbClr val="FAF3F2"/>
          </a:solidFill>
          <a:ln w="9525">
            <a:solidFill>
              <a:srgbClr val="EAD6D3"/>
            </a:solidFill>
          </a:ln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Entscheidungen aus dem Bauch heraus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5806440" y="521208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F6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6492240" y="5102352"/>
            <a:ext cx="5212080" cy="786384"/>
          </a:xfrm>
          <a:prstGeom prst="roundRect">
            <a:avLst>
              <a:gd name="adj" fmla="val 6977"/>
            </a:avLst>
          </a:prstGeom>
          <a:solidFill>
            <a:srgbClr val="EFF6F1"/>
          </a:solidFill>
          <a:ln w="9525">
            <a:solidFill>
              <a:srgbClr val="D3E5D9"/>
            </a:solidFill>
          </a:ln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Entscheiden mit Zahlen: wo sich Störungen häufen, welche Anlage Zeit frisst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502920" y="6126480"/>
            <a:ext cx="11201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B65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Gebaut aus der Werkstatt heraus – ohne Server, ohne Datenbank, ohne eine einzige IT-Anfrage.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ist das Werkstatt-Cockpit?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155448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2F6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502920" y="251460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5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Programm-Ordner je Rechner –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5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entpacken, starten, fertig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355848" y="155448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2F6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3355848" y="251460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5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Datendateien im gemeinsamen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5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Werkstatt-Ordner auf dem Laufwerk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208776" y="155448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2F6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s</a:t>
            </a:r>
            <a:endParaRPr lang="en-US" sz="6000" dirty="0"/>
          </a:p>
        </p:txBody>
      </p:sp>
      <p:sp>
        <p:nvSpPr>
          <p:cNvPr id="8" name="Text 6"/>
          <p:cNvSpPr/>
          <p:nvPr/>
        </p:nvSpPr>
        <p:spPr>
          <a:xfrm>
            <a:off x="6208776" y="251460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5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automatischer Abgleich –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5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fremde Änderungen erscheinen von selbst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061704" y="155448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2F6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6000" dirty="0"/>
          </a:p>
        </p:txBody>
      </p:sp>
      <p:sp>
        <p:nvSpPr>
          <p:cNvPr id="10" name="Text 8"/>
          <p:cNvSpPr/>
          <p:nvPr/>
        </p:nvSpPr>
        <p:spPr>
          <a:xfrm>
            <a:off x="9061704" y="251460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5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Server, Datenbanken, Clouds,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5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Installationen, Adminrechte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188720" y="3749040"/>
            <a:ext cx="9784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5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Programm läuft auf jedem Werkstatt-Rechner, die App-Datei und beide Datendateien liegen im Werkstatt-Ordner auf dem Firmenlaufwerk. </a:t>
            </a:r>
            <a:pPr algn="ctr" indent="0" marL="0">
              <a:buNone/>
            </a:pPr>
            <a:r>
              <a:rPr lang="en-US" sz="1400" b="1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bearbeiten darf, regeln die Laufwerks-Rechte</a:t>
            </a:r>
            <a:pPr algn="ctr" indent="0" marL="0">
              <a:buNone/>
            </a:pPr>
            <a:r>
              <a:rPr lang="en-US" sz="1400" dirty="0">
                <a:solidFill>
                  <a:srgbClr val="5B65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ohne Schreibrecht schaltet die App von selbst auf „nur ansehen“.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88720" y="4663440"/>
            <a:ext cx="9784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5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neue Version verteilen heißt: </a:t>
            </a:r>
            <a:pPr algn="ctr" indent="0" marL="0">
              <a:buNone/>
            </a:pPr>
            <a:r>
              <a:rPr lang="en-US" sz="1400" b="1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Datei in den Ordner legen.</a:t>
            </a:r>
            <a:pPr algn="ctr" indent="0" marL="0">
              <a:buNone/>
            </a:pPr>
            <a:r>
              <a:rPr lang="en-US" sz="1400" dirty="0">
                <a:solidFill>
                  <a:srgbClr val="5B65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 jedem Rechner meldet sich ein grüner Balken „Neue Version verfügbar“ – ein Klick, fertig. Kein Arbeitsplatz muss angefasst werden.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Übersicht: die Lage auf einen Blick</a:t>
            </a:r>
            <a:endParaRPr lang="en-US" sz="3000" dirty="0"/>
          </a:p>
        </p:txBody>
      </p:sp>
      <p:pic>
        <p:nvPicPr>
          <p:cNvPr id="3" name="Image 0" descr="/tmp/claude-0/-home-user-WerkstattKalender/8b2eab4a-3225-51dd-900c-dbf3d21c0a06/scratchpad/doku-shots/uebersic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280160"/>
            <a:ext cx="6675120" cy="4484846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9AA2AA">
                <a:alpha val="45000"/>
              </a:srgbClr>
            </a:outerShdw>
          </a:effectLst>
        </p:spPr>
      </p:pic>
      <p:sp>
        <p:nvSpPr>
          <p:cNvPr id="4" name="Text 1"/>
          <p:cNvSpPr/>
          <p:nvPr/>
        </p:nvSpPr>
        <p:spPr>
          <a:xfrm>
            <a:off x="502920" y="5819870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90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Beispieldaten · Kennzahlen, Anwesenheit, offene Störungen, Tagesliste und Pinnwand.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7452360" y="1371600"/>
            <a:ext cx="4251960" cy="5120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Kennzahlen des Tages: 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B65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fällig, erledigt, überfällig – dazu die Monatsquote für Wartung &amp; Rundgänge.</a:t>
            </a:r>
            <a:pPr indent="0" marL="0">
              <a:lnSpc>
                <a:spcPct val="105000"/>
              </a:lnSpc>
              <a:buNone/>
            </a:pP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ist jetzt da? 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B65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Schichten mit Anwesenheit, live aus dem Schichtplan.</a:t>
            </a:r>
            <a:pPr indent="0" marL="0">
              <a:lnSpc>
                <a:spcPct val="105000"/>
              </a:lnSpc>
              <a:buNone/>
            </a:pP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Offene Störungen stehen rot ganz oben 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B65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nichts geht zwischen den Schichten unter.</a:t>
            </a:r>
            <a:pPr indent="0" marL="0">
              <a:lnSpc>
                <a:spcPct val="105000"/>
              </a:lnSpc>
              <a:buNone/>
            </a:pP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Pinnwand mit Bildern: 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B65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Übergaben und Hinweise, für alle sichtbar – auch am Leser-Rechner.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Wartung &amp; Rundgänge: der Plan pflegt sich selbst</a:t>
            </a:r>
            <a:endParaRPr lang="en-US" sz="3000" dirty="0"/>
          </a:p>
        </p:txBody>
      </p:sp>
      <p:pic>
        <p:nvPicPr>
          <p:cNvPr id="3" name="Image 0" descr="/tmp/claude-0/-home-user-WerkstattKalender/8b2eab4a-3225-51dd-900c-dbf3d21c0a06/scratchpad/doku-shots/pl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280160"/>
            <a:ext cx="6675120" cy="4484846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9AA2AA">
                <a:alpha val="45000"/>
              </a:srgbClr>
            </a:outerShdw>
          </a:effectLst>
        </p:spPr>
      </p:pic>
      <p:sp>
        <p:nvSpPr>
          <p:cNvPr id="4" name="Text 1"/>
          <p:cNvSpPr/>
          <p:nvPr/>
        </p:nvSpPr>
        <p:spPr>
          <a:xfrm>
            <a:off x="502920" y="5819870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90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Plan-Kalender im September – Kennfarben je Anlage, grüner Haken = erledigt.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7452360" y="1371600"/>
            <a:ext cx="4251960" cy="5120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Automatische Rotation: 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B65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TPM-Anlagen und R+I-Rundgänge verteilen sich selbst über die Wochen – Feiertage (Bayern) eingerechnet.</a:t>
            </a:r>
            <a:pPr indent="0" marL="0">
              <a:lnSpc>
                <a:spcPct val="105000"/>
              </a:lnSpc>
              <a:buNone/>
            </a:pP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Klick hakt ab 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B65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direkt auf der Kachel, die Kennfarbe der Anlage bleibt stehen.</a:t>
            </a:r>
            <a:pPr indent="0" marL="0">
              <a:lnSpc>
                <a:spcPct val="105000"/>
              </a:lnSpc>
              <a:buNone/>
            </a:pP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Regeltermine mit Serie: 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B65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Abteilungsversammlung &amp; Co. wiederkehrend, auf Wunsch mit Pinnwand-Zettel.</a:t>
            </a:r>
            <a:pPr indent="0" marL="0">
              <a:lnSpc>
                <a:spcPct val="105000"/>
              </a:lnSpc>
              <a:buNone/>
            </a:pP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Versäumtes bleibt sichtbar, 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B65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bis es erledigt oder bewusst verschoben ist – ein Termin-Archiv zeigt es auch den Lesern.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Wochenplanung: Arbeiten per Ziehen verteilen</a:t>
            </a:r>
            <a:endParaRPr lang="en-US" sz="3000" dirty="0"/>
          </a:p>
        </p:txBody>
      </p:sp>
      <p:pic>
        <p:nvPicPr>
          <p:cNvPr id="3" name="Image 0" descr="/tmp/claude-0/-home-user-WerkstattKalender/8b2eab4a-3225-51dd-900c-dbf3d21c0a06/scratchpad/doku-shots/planu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280160"/>
            <a:ext cx="6675120" cy="4484846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9AA2AA">
                <a:alpha val="45000"/>
              </a:srgbClr>
            </a:outerShdw>
          </a:effectLst>
        </p:spPr>
      </p:pic>
      <p:sp>
        <p:nvSpPr>
          <p:cNvPr id="4" name="Text 1"/>
          <p:cNvSpPr/>
          <p:nvPr/>
        </p:nvSpPr>
        <p:spPr>
          <a:xfrm>
            <a:off x="502920" y="5819870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90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Wochenplan mit dem Backlog-Fenster – Arbeiten auf Person und Tag ziehen.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7452360" y="1371600"/>
            <a:ext cx="4251960" cy="5120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Backlog neben dem Plan: 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B65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 offenen Arbeiten in einem frei verschiebbaren Fenster, nach Gewerk filterbar.</a:t>
            </a:r>
            <a:pPr indent="0" marL="0">
              <a:lnSpc>
                <a:spcPct val="105000"/>
              </a:lnSpc>
              <a:buNone/>
            </a:pP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Zuweisen = Ziehen: 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B65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Arbeit auf die Zeile von Person und Tag ziehen – fertig. Umplanen genauso.</a:t>
            </a:r>
            <a:pPr indent="0" marL="0">
              <a:lnSpc>
                <a:spcPct val="105000"/>
              </a:lnSpc>
              <a:buNone/>
            </a:pP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Erledigtes verschwindet nicht: 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B65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Chip wird grün mit Haken und bleibt im Plan stehen – die Woche bleibt nachvollziehbar.</a:t>
            </a:r>
            <a:pPr indent="0" marL="0">
              <a:lnSpc>
                <a:spcPct val="105000"/>
              </a:lnSpc>
              <a:buNone/>
            </a:pP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Prioritäten und Gewerke 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B65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(Mechanik / Elektrik) sind farblich sofort zu unterscheiden.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Störberichte: vollständig dokumentiert, mit Foto</a:t>
            </a:r>
            <a:endParaRPr lang="en-US" sz="3000" dirty="0"/>
          </a:p>
        </p:txBody>
      </p:sp>
      <p:pic>
        <p:nvPicPr>
          <p:cNvPr id="3" name="Image 0" descr="/tmp/claude-0/-home-user-WerkstattKalender/8b2eab4a-3225-51dd-900c-dbf3d21c0a06/scratchpad/doku-shots/stoerung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280160"/>
            <a:ext cx="6675120" cy="4484846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9AA2AA">
                <a:alpha val="45000"/>
              </a:srgbClr>
            </a:outerShdw>
          </a:effectLst>
        </p:spPr>
      </p:pic>
      <p:sp>
        <p:nvSpPr>
          <p:cNvPr id="4" name="Text 1"/>
          <p:cNvSpPr/>
          <p:nvPr/>
        </p:nvSpPr>
        <p:spPr>
          <a:xfrm>
            <a:off x="502920" y="5819870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90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 Störberichte nach Datum und Schicht – mit Ausfallzeit und Status.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7452360" y="1371600"/>
            <a:ext cx="4251960" cy="5120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Fortlaufende Nummer je Jahr 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B65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jeder Bericht ist eindeutig zitierbar, im Blatt wie im Gespräch.</a:t>
            </a:r>
            <a:pPr indent="0" marL="0">
              <a:lnSpc>
                <a:spcPct val="105000"/>
              </a:lnSpc>
              <a:buNone/>
            </a:pP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Ausfallzeit in Minuten 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B65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wird je Anlage ausgewertet – Häufungen (3. Störung in 30 Tagen) meldet die App von selbst.</a:t>
            </a:r>
            <a:pPr indent="0" marL="0">
              <a:lnSpc>
                <a:spcPct val="105000"/>
              </a:lnSpc>
              <a:buNone/>
            </a:pP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Fotos vom Schaden: 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B65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 Handy direkt aus der Kamera – sagt der nächsten Schicht mehr als drei Sätze.</a:t>
            </a:r>
            <a:pPr indent="0" marL="0">
              <a:lnSpc>
                <a:spcPct val="105000"/>
              </a:lnSpc>
              <a:buNone/>
            </a:pP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Offene Maßnahmen 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B65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wandern per Klick als Arbeit ins Backlog – nichts bleibt im Bericht vergraben.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Beim Audit: Nachweise auf Knopfdruck</a:t>
            </a:r>
            <a:endParaRPr lang="en-US" sz="3000" dirty="0"/>
          </a:p>
        </p:txBody>
      </p:sp>
      <p:pic>
        <p:nvPicPr>
          <p:cNvPr id="3" name="Image 0" descr="/tmp/claude-0/-home-user-WerkstattKalender/8b2eab4a-3225-51dd-900c-dbf3d21c0a06/scratchpad/doku-shots/dialog-zeitrau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17320"/>
            <a:ext cx="6675120" cy="4171950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9AA2AA">
                <a:alpha val="45000"/>
              </a:srgbClr>
            </a:outerShdw>
          </a:effectLst>
        </p:spPr>
      </p:pic>
      <p:sp>
        <p:nvSpPr>
          <p:cNvPr id="4" name="Text 1"/>
          <p:cNvSpPr/>
          <p:nvPr/>
        </p:nvSpPr>
        <p:spPr>
          <a:xfrm>
            <a:off x="502920" y="564413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90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Druckdialog mit echter Vorschau – hier die Termintreue Januar bis September.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7452360" y="1371600"/>
            <a:ext cx="4251960" cy="5120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Prüfnachweis als A4-Ausdruck: 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B65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unterschriftsfähig, mit Anlage, Soll und Erledigt-Stand – direkt aus der App.</a:t>
            </a:r>
            <a:pPr indent="0" marL="0">
              <a:lnSpc>
                <a:spcPct val="105000"/>
              </a:lnSpc>
              <a:buNone/>
            </a:pP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Termintreue schwarz auf weiß: 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B65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„X von Y erledigt · Z %“ je Monat – der Zeitraum ist frei wählbar, dazu die Aufschlüsselung je Anlage.</a:t>
            </a:r>
            <a:pPr indent="0" marL="0">
              <a:lnSpc>
                <a:spcPct val="105000"/>
              </a:lnSpc>
              <a:buNone/>
            </a:pP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Lückenlose Historie je Anlage: 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B65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Register mit allen Terminen, Störungen und Ausfallzeiten – über Jahre.</a:t>
            </a:r>
            <a:pPr indent="0" marL="0">
              <a:lnSpc>
                <a:spcPct val="105000"/>
              </a:lnSpc>
              <a:buNone/>
            </a:pP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hat wann was geändert: 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B65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Verlauf der gemeinsamen Datei beantwortet es in Sekunden.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Gemeinsame Nutzung – ohne dass sich jemand überschreibt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1371600"/>
            <a:ext cx="3639312" cy="2212848"/>
          </a:xfrm>
          <a:prstGeom prst="roundRect">
            <a:avLst>
              <a:gd name="adj" fmla="val 2893"/>
            </a:avLst>
          </a:prstGeom>
          <a:solidFill>
            <a:srgbClr val="F5F7FA"/>
          </a:solidFill>
          <a:ln w="9525">
            <a:solidFill>
              <a:srgbClr val="E2E4E7"/>
            </a:solidFill>
          </a:ln>
        </p:spPr>
        <p:txBody>
          <a:bodyPr wrap="square" lIns="127000" tIns="127000" rIns="127000" bIns="12700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Eintrag für Eintrag zusammengeführt</a:t>
            </a:r>
            <a:endParaRPr lang="en-US" sz="1350" dirty="0"/>
          </a:p>
          <a:p>
            <a:pPr indent="0" marL="0">
              <a:buNone/>
            </a:pPr>
            <a:endParaRPr lang="en-US" sz="1350" dirty="0"/>
          </a:p>
          <a:p>
            <a:pPr indent="0" marL="0">
              <a:buNone/>
            </a:pPr>
            <a:r>
              <a:rPr lang="en-US" sz="1150" dirty="0">
                <a:solidFill>
                  <a:srgbClr val="5B65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Vor jedem Speichern wird der Datei-Stand gelesen, danach zurückgeprüft. Fremde Änderungen erscheinen alle 30 Sekunden von selbst.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4325112" y="1371600"/>
            <a:ext cx="3639312" cy="2212848"/>
          </a:xfrm>
          <a:prstGeom prst="roundRect">
            <a:avLst>
              <a:gd name="adj" fmla="val 2893"/>
            </a:avLst>
          </a:prstGeom>
          <a:solidFill>
            <a:srgbClr val="F5F7FA"/>
          </a:solidFill>
          <a:ln w="9525">
            <a:solidFill>
              <a:srgbClr val="E2E4E7"/>
            </a:solidFill>
          </a:ln>
        </p:spPr>
        <p:txBody>
          <a:bodyPr wrap="square" lIns="127000" tIns="127000" rIns="127000" bIns="12700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Rechte über das Laufwerk</a:t>
            </a:r>
            <a:endParaRPr lang="en-US" sz="1350" dirty="0"/>
          </a:p>
          <a:p>
            <a:pPr indent="0" marL="0">
              <a:buNone/>
            </a:pPr>
            <a:endParaRPr lang="en-US" sz="1350" dirty="0"/>
          </a:p>
          <a:p>
            <a:pPr indent="0" marL="0">
              <a:buNone/>
            </a:pPr>
            <a:r>
              <a:rPr lang="en-US" sz="1150" dirty="0">
                <a:solidFill>
                  <a:srgbClr val="5B65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Ohne Schreibrecht automatisch „nur ansehen“. Dazu Benutzergruppen in der App: Verwalter, Bearbeiter, Leser.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8147304" y="1371600"/>
            <a:ext cx="3639312" cy="2212848"/>
          </a:xfrm>
          <a:prstGeom prst="roundRect">
            <a:avLst>
              <a:gd name="adj" fmla="val 2893"/>
            </a:avLst>
          </a:prstGeom>
          <a:solidFill>
            <a:srgbClr val="F5F7FA"/>
          </a:solidFill>
          <a:ln w="9525">
            <a:solidFill>
              <a:srgbClr val="E2E4E7"/>
            </a:solidFill>
          </a:ln>
        </p:spPr>
        <p:txBody>
          <a:bodyPr wrap="square" lIns="127000" tIns="127000" rIns="127000" bIns="12700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Sicherungen im Hintergrund</a:t>
            </a:r>
            <a:endParaRPr lang="en-US" sz="1350" dirty="0"/>
          </a:p>
          <a:p>
            <a:pPr indent="0" marL="0">
              <a:buNone/>
            </a:pPr>
            <a:endParaRPr lang="en-US" sz="1350" dirty="0"/>
          </a:p>
          <a:p>
            <a:pPr indent="0" marL="0">
              <a:buNone/>
            </a:pPr>
            <a:r>
              <a:rPr lang="en-US" sz="1150" dirty="0">
                <a:solidFill>
                  <a:srgbClr val="5B65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 Gerät die letzten 30 Stände plus 14 Tages-Stände, täglich eine Kopie in den Datenordner – dort greift die IT-Sicherung des Laufwerks.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502920" y="3767328"/>
            <a:ext cx="3639312" cy="2212848"/>
          </a:xfrm>
          <a:prstGeom prst="roundRect">
            <a:avLst>
              <a:gd name="adj" fmla="val 2893"/>
            </a:avLst>
          </a:prstGeom>
          <a:solidFill>
            <a:srgbClr val="F5F7FA"/>
          </a:solidFill>
          <a:ln w="9525">
            <a:solidFill>
              <a:srgbClr val="E2E4E7"/>
            </a:solidFill>
          </a:ln>
        </p:spPr>
        <p:txBody>
          <a:bodyPr wrap="square" lIns="127000" tIns="127000" rIns="127000" bIns="12700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Laufwerk kurz weg?</a:t>
            </a:r>
            <a:endParaRPr lang="en-US" sz="1350" dirty="0"/>
          </a:p>
          <a:p>
            <a:pPr indent="0" marL="0">
              <a:buNone/>
            </a:pPr>
            <a:endParaRPr lang="en-US" sz="1350" dirty="0"/>
          </a:p>
          <a:p>
            <a:pPr indent="0" marL="0">
              <a:buNone/>
            </a:pPr>
            <a:r>
              <a:rPr lang="en-US" sz="1150" dirty="0">
                <a:solidFill>
                  <a:srgbClr val="5B65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App speichert lokal weiter, meldet es und gleicht beim nächsten Speichern ab. Eine beschädigte Datei heilt sie selbst.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4325112" y="3767328"/>
            <a:ext cx="3639312" cy="2212848"/>
          </a:xfrm>
          <a:prstGeom prst="roundRect">
            <a:avLst>
              <a:gd name="adj" fmla="val 2893"/>
            </a:avLst>
          </a:prstGeom>
          <a:solidFill>
            <a:srgbClr val="F5F7FA"/>
          </a:solidFill>
          <a:ln w="9525">
            <a:solidFill>
              <a:srgbClr val="E2E4E7"/>
            </a:solidFill>
          </a:ln>
        </p:spPr>
        <p:txBody>
          <a:bodyPr wrap="square" lIns="127000" tIns="127000" rIns="127000" bIns="12700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Wächter gegen stille Fehler</a:t>
            </a:r>
            <a:endParaRPr lang="en-US" sz="1350" dirty="0"/>
          </a:p>
          <a:p>
            <a:pPr indent="0" marL="0">
              <a:buNone/>
            </a:pPr>
            <a:endParaRPr lang="en-US" sz="1350" dirty="0"/>
          </a:p>
          <a:p>
            <a:pPr indent="0" marL="0">
              <a:buNone/>
            </a:pPr>
            <a:r>
              <a:rPr lang="en-US" sz="1150" dirty="0">
                <a:solidFill>
                  <a:srgbClr val="5B65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Alte Programmfassung? Rote Leiste. Falsch gehende Uhr? Wird gemeldet – und verliert trotzdem keine Änderung.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8147304" y="3767328"/>
            <a:ext cx="3639312" cy="2212848"/>
          </a:xfrm>
          <a:prstGeom prst="roundRect">
            <a:avLst>
              <a:gd name="adj" fmla="val 2893"/>
            </a:avLst>
          </a:prstGeom>
          <a:solidFill>
            <a:srgbClr val="F5F7FA"/>
          </a:solidFill>
          <a:ln w="9525">
            <a:solidFill>
              <a:srgbClr val="E2E4E7"/>
            </a:solidFill>
          </a:ln>
        </p:spPr>
        <p:txBody>
          <a:bodyPr wrap="square" lIns="127000" tIns="127000" rIns="127000" bIns="12700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Alles bleibt im Haus</a:t>
            </a:r>
            <a:endParaRPr lang="en-US" sz="1350" dirty="0"/>
          </a:p>
          <a:p>
            <a:pPr indent="0" marL="0">
              <a:buNone/>
            </a:pPr>
            <a:endParaRPr lang="en-US" sz="1350" dirty="0"/>
          </a:p>
          <a:p>
            <a:pPr indent="0" marL="0">
              <a:buNone/>
            </a:pPr>
            <a:r>
              <a:rPr lang="en-US" sz="1150" dirty="0">
                <a:solidFill>
                  <a:srgbClr val="5B65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Keine Cloud, keine fremden Server: Programm und Daten liegen ausschließlich auf dem Firmenlaufwerk.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Verlässlichkeit: gemessen, nicht behauptet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146304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2F6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61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502920" y="2395728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5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automatische Härtetest-Suiten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355848" y="146304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2F6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1.067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3355848" y="2395728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5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Einzelprüfungen im Volllauf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5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vom 07.09.2026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208776" y="146304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2F6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36.000+</a:t>
            </a:r>
            <a:endParaRPr lang="en-US" sz="5400" dirty="0"/>
          </a:p>
        </p:txBody>
      </p:sp>
      <p:sp>
        <p:nvSpPr>
          <p:cNvPr id="8" name="Text 6"/>
          <p:cNvSpPr/>
          <p:nvPr/>
        </p:nvSpPr>
        <p:spPr>
          <a:xfrm>
            <a:off x="6208776" y="2395728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5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Einträge im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5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15-Jahre-Stresstest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061704" y="146304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2F6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100 %</a:t>
            </a:r>
            <a:endParaRPr lang="en-US" sz="5400" dirty="0"/>
          </a:p>
        </p:txBody>
      </p:sp>
      <p:sp>
        <p:nvSpPr>
          <p:cNvPr id="10" name="Text 8"/>
          <p:cNvSpPr/>
          <p:nvPr/>
        </p:nvSpPr>
        <p:spPr>
          <a:xfrm>
            <a:off x="9061704" y="2395728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5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bestanden – sonst geht keine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5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Version aufs Laufwerk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14400" y="356616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Geprüfte Grenzfälle: </a:t>
            </a:r>
            <a:pPr algn="ctr" indent="0" marL="0">
              <a:buNone/>
            </a:pPr>
            <a:r>
              <a:rPr lang="en-US" sz="1350" dirty="0">
                <a:solidFill>
                  <a:srgbClr val="5B65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beschädigte Datei (heilt sich selbst) · zwei gleichzeitig offene Fenster · falsch gehende Uhr, verstellte Zeitzone und der Zeitumstellungs-Tag · volle Speichergrenze · echte Excel-Tabelle · Rechte-Entzug im laufenden Betrieb.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14400" y="4526280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Hausregel: </a:t>
            </a:r>
            <a:pPr algn="ctr" indent="0" marL="0">
              <a:buNone/>
            </a:pPr>
            <a:r>
              <a:rPr lang="en-US" sz="1350" dirty="0">
                <a:solidFill>
                  <a:srgbClr val="5B65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 Änderung am Speichern oder Zusammenführen braucht einen Test, der ohne die Änderung fehlschlägt. Vor jeder Auslieferung läuft die komplette Suite.</a:t>
            </a:r>
            <a:endParaRPr lang="en-US" sz="13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Daten: getestet weit über den Alltag hinaus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1207008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2F6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VIEL HÄLT ES AUS – DIE MESSFAHRT ALS HOCHRECHNUNG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502920" y="160020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volles Jahr Werkstattbetrieb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617720" y="1673352"/>
            <a:ext cx="548640" cy="402336"/>
          </a:xfrm>
          <a:prstGeom prst="roundRect">
            <a:avLst>
              <a:gd name="adj" fmla="val 11364"/>
            </a:avLst>
          </a:prstGeom>
          <a:solidFill>
            <a:srgbClr val="5B657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303520" y="1600200"/>
            <a:ext cx="6382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5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4.500 Einträge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502920" y="2313432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Volltest mit Betriebsdaten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617720" y="2386584"/>
            <a:ext cx="1980555" cy="402336"/>
          </a:xfrm>
          <a:prstGeom prst="roundRect">
            <a:avLst>
              <a:gd name="adj" fmla="val 11364"/>
            </a:avLst>
          </a:prstGeom>
          <a:solidFill>
            <a:srgbClr val="2F669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6735435" y="2313432"/>
            <a:ext cx="495059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5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16.951 Einträge · 1.260 Störberichte ≈ 3,8 Werkstatt-Jahre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502920" y="3026664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Stress-Messfahrt (gemessen)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617720" y="3099816"/>
            <a:ext cx="4206240" cy="402336"/>
          </a:xfrm>
          <a:prstGeom prst="roundRect">
            <a:avLst>
              <a:gd name="adj" fmla="val 11364"/>
            </a:avLst>
          </a:prstGeom>
          <a:solidFill>
            <a:srgbClr val="22262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8961120" y="3026664"/>
            <a:ext cx="27249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5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36.000+ Einträge ≈ 8 Werkstatt-Jahre – Bedienung blieb flüssig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02920" y="379476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5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 Suiten sind wiederholbar und laufen vor jeder Auslieferung – die Stabilität ist gemessen, nicht angenommen. Der Prüfstand ist bereits auf das echte Tempo hochgestellt: Die nächste Messfahrt spielt 67.800 Einträge durch (15 Jahre × 4.500).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02920" y="429768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2F7D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 SO WIRD GEGENGESTEUERT, LANGE BEVOR ES ENG WIRD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02920" y="4709160"/>
            <a:ext cx="5532120" cy="1783080"/>
          </a:xfrm>
          <a:prstGeom prst="roundRect">
            <a:avLst>
              <a:gd name="adj" fmla="val 3590"/>
            </a:avLst>
          </a:prstGeom>
          <a:solidFill>
            <a:srgbClr val="EFF6F1"/>
          </a:solidFill>
          <a:ln w="9525">
            <a:solidFill>
              <a:srgbClr val="D3E5D9"/>
            </a:solidFill>
          </a:ln>
        </p:spPr>
        <p:txBody>
          <a:bodyPr wrap="square" lIns="127000" tIns="127000" rIns="127000" bIns="12700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Beispiel 1 · Die Speicher-Warnung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5B65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Nähert sich die Datei der Grenze (rund 5 MB), meldet die App es sichtbar – geprüft im Härtetest mit voller Datei. Das vorgemerkte Jahres-Archiv lagert alte Jahrgänge dann in eigene Dateien aus, die Hauptdatei bleibt klein und schnell.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309360" y="4709160"/>
            <a:ext cx="5532120" cy="1783080"/>
          </a:xfrm>
          <a:prstGeom prst="roundRect">
            <a:avLst>
              <a:gd name="adj" fmla="val 3590"/>
            </a:avLst>
          </a:prstGeom>
          <a:solidFill>
            <a:srgbClr val="EFF6F1"/>
          </a:solidFill>
          <a:ln w="9525">
            <a:solidFill>
              <a:srgbClr val="D3E5D9"/>
            </a:solidFill>
          </a:ln>
        </p:spPr>
        <p:txBody>
          <a:bodyPr wrap="square" lIns="127000" tIns="127000" rIns="127000" bIns="12700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Beispiel 2 · Große Brocken bleiben draußen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5B65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Fotos wandern nie in die Datendatei – sie liegen als einzelne Bilddateien im Fotos-Ordner daneben. Die Datei wächst nur um den Text, egal wie viele Bilder die Werkstatt anhängt. Gelöschtes wird über eine Merkliste sauber ausgetragen statt ewig mitgeschleppt.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02920" y="641908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B65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 wenn doch einmal ein Wechsel ansteht: Die Daten sind lesbarer Klartext (JSON) und jederzeit nach Excel/CSV exportierbar – sie gehören uns, nicht einem Hersteller.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hat es gekostet – und was sparen wir?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1234440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6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GEKOSTET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02920" y="164592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F6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0 €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828800" y="1645920"/>
            <a:ext cx="4023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5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Anschaffung – aus der Werkstatt heraus entwickelt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260604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F6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0 €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828800" y="2606040"/>
            <a:ext cx="4023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5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laufende Kosten: keine Lizenzen, keine Server, keine Cloud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02920" y="356616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F6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h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1828800" y="3566160"/>
            <a:ext cx="4023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5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IT-Aufwand – läuft auf den vorhandenen Rechnern und dem vorhandenen Laufwerk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355080" y="1234440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7D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ENTFÄLLT SEITDEM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355080" y="1645920"/>
            <a:ext cx="5349240" cy="621792"/>
          </a:xfrm>
          <a:prstGeom prst="roundRect">
            <a:avLst>
              <a:gd name="adj" fmla="val 8824"/>
            </a:avLst>
          </a:prstGeom>
          <a:solidFill>
            <a:srgbClr val="EFF6F1"/>
          </a:solidFill>
          <a:ln w="9525">
            <a:solidFill>
              <a:srgbClr val="D3E5D9"/>
            </a:solidFill>
          </a:ln>
        </p:spPr>
        <p:txBody>
          <a:bodyPr wrap="square" lIns="101600" tIns="101600" rIns="101600" bIns="10160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7D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buNone/>
            </a:pPr>
            <a:r>
              <a:rPr lang="en-US" sz="1200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Wartungsplan von Hand fortschreiben und abtippen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355080" y="2395728"/>
            <a:ext cx="5349240" cy="621792"/>
          </a:xfrm>
          <a:prstGeom prst="roundRect">
            <a:avLst>
              <a:gd name="adj" fmla="val 8824"/>
            </a:avLst>
          </a:prstGeom>
          <a:solidFill>
            <a:srgbClr val="EFF6F1"/>
          </a:solidFill>
          <a:ln w="9525">
            <a:solidFill>
              <a:srgbClr val="D3E5D9"/>
            </a:solidFill>
          </a:ln>
        </p:spPr>
        <p:txBody>
          <a:bodyPr wrap="square" lIns="101600" tIns="101600" rIns="101600" bIns="10160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7D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buNone/>
            </a:pPr>
            <a:r>
              <a:rPr lang="en-US" sz="1200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Doppelte Pflege: Zettel, Excel-Listen, Aushänge nebeneinander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355080" y="3145536"/>
            <a:ext cx="5349240" cy="621792"/>
          </a:xfrm>
          <a:prstGeom prst="roundRect">
            <a:avLst>
              <a:gd name="adj" fmla="val 8824"/>
            </a:avLst>
          </a:prstGeom>
          <a:solidFill>
            <a:srgbClr val="EFF6F1"/>
          </a:solidFill>
          <a:ln w="9525">
            <a:solidFill>
              <a:srgbClr val="D3E5D9"/>
            </a:solidFill>
          </a:ln>
        </p:spPr>
        <p:txBody>
          <a:bodyPr wrap="square" lIns="101600" tIns="101600" rIns="101600" bIns="10160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7D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buNone/>
            </a:pPr>
            <a:r>
              <a:rPr lang="en-US" sz="1200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Suchen vor Audits – Nachweise entstehen jetzt auf Knopfdruck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355080" y="3895344"/>
            <a:ext cx="5349240" cy="621792"/>
          </a:xfrm>
          <a:prstGeom prst="roundRect">
            <a:avLst>
              <a:gd name="adj" fmla="val 8824"/>
            </a:avLst>
          </a:prstGeom>
          <a:solidFill>
            <a:srgbClr val="EFF6F1"/>
          </a:solidFill>
          <a:ln w="9525">
            <a:solidFill>
              <a:srgbClr val="D3E5D9"/>
            </a:solidFill>
          </a:ln>
        </p:spPr>
        <p:txBody>
          <a:bodyPr wrap="square" lIns="101600" tIns="101600" rIns="101600" bIns="10160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7D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buNone/>
            </a:pPr>
            <a:r>
              <a:rPr lang="en-US" sz="1200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Verlorene Störungs-Infos zwischen den Schichten – und die Rückfragen danach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0080" y="51206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5B65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eingesparte Zeit steckt jede Woche in Planung, Übergabe und Audit-Vorbereitung – sie bleibt in der Werkstatt.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 warum nicht einfach kaufen?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896112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0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ehrlicher Vergleich – beide Wege haben Licht und Schatten.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5532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2F6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WERKSTATT-COCKPIT (EIGENBAU)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502920" y="1783080"/>
            <a:ext cx="5532120" cy="649224"/>
          </a:xfrm>
          <a:prstGeom prst="roundRect">
            <a:avLst>
              <a:gd name="adj" fmla="val 7042"/>
            </a:avLst>
          </a:prstGeom>
          <a:solidFill>
            <a:srgbClr val="EFF6F1"/>
          </a:solidFill>
          <a:ln w="9525">
            <a:solidFill>
              <a:srgbClr val="D3E5D9"/>
            </a:solidFill>
          </a:ln>
        </p:spPr>
        <p:txBody>
          <a:bodyPr wrap="square" lIns="101600" tIns="101600" rIns="101600" bIns="1016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7D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indent="0" marL="0">
              <a:buNone/>
            </a:pPr>
            <a:r>
              <a:rPr lang="en-US" sz="1100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Keine Anschaffung, keine Lizenzen, kein Server – 0 € im Jahr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2542032"/>
            <a:ext cx="5532120" cy="649224"/>
          </a:xfrm>
          <a:prstGeom prst="roundRect">
            <a:avLst>
              <a:gd name="adj" fmla="val 7042"/>
            </a:avLst>
          </a:prstGeom>
          <a:solidFill>
            <a:srgbClr val="EFF6F1"/>
          </a:solidFill>
          <a:ln w="9525">
            <a:solidFill>
              <a:srgbClr val="D3E5D9"/>
            </a:solidFill>
          </a:ln>
        </p:spPr>
        <p:txBody>
          <a:bodyPr wrap="square" lIns="101600" tIns="101600" rIns="101600" bIns="1016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7D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indent="0" marL="0">
              <a:buNone/>
            </a:pPr>
            <a:r>
              <a:rPr lang="en-US" sz="1100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Exakt auf unsere Abläufe zugeschnitten – nichts Überflüssiges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3300984"/>
            <a:ext cx="5532120" cy="649224"/>
          </a:xfrm>
          <a:prstGeom prst="roundRect">
            <a:avLst>
              <a:gd name="adj" fmla="val 7042"/>
            </a:avLst>
          </a:prstGeom>
          <a:solidFill>
            <a:srgbClr val="EFF6F1"/>
          </a:solidFill>
          <a:ln w="9525">
            <a:solidFill>
              <a:srgbClr val="D3E5D9"/>
            </a:solidFill>
          </a:ln>
        </p:spPr>
        <p:txBody>
          <a:bodyPr wrap="square" lIns="101600" tIns="101600" rIns="101600" bIns="1016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7D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indent="0" marL="0">
              <a:buNone/>
            </a:pPr>
            <a:r>
              <a:rPr lang="en-US" sz="1100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Wünsche sind in Tagen umgesetzt, nicht im nächsten Jahres-Release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4059936"/>
            <a:ext cx="5532120" cy="649224"/>
          </a:xfrm>
          <a:prstGeom prst="roundRect">
            <a:avLst>
              <a:gd name="adj" fmla="val 7042"/>
            </a:avLst>
          </a:prstGeom>
          <a:solidFill>
            <a:srgbClr val="EFF6F1"/>
          </a:solidFill>
          <a:ln w="9525">
            <a:solidFill>
              <a:srgbClr val="D3E5D9"/>
            </a:solidFill>
          </a:ln>
        </p:spPr>
        <p:txBody>
          <a:bodyPr wrap="square" lIns="101600" tIns="101600" rIns="101600" bIns="1016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7D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indent="0" marL="0">
              <a:buNone/>
            </a:pPr>
            <a:r>
              <a:rPr lang="en-US" sz="1100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Daten als lesbarer Klartext im Haus – jederzeit exportierbar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4818888"/>
            <a:ext cx="5532120" cy="649224"/>
          </a:xfrm>
          <a:prstGeom prst="roundRect">
            <a:avLst>
              <a:gd name="adj" fmla="val 7042"/>
            </a:avLst>
          </a:prstGeom>
          <a:solidFill>
            <a:srgbClr val="FAF3F2"/>
          </a:solidFill>
          <a:ln w="9525">
            <a:solidFill>
              <a:srgbClr val="EAD6D3"/>
            </a:solidFill>
          </a:ln>
        </p:spPr>
        <p:txBody>
          <a:bodyPr wrap="square" lIns="101600" tIns="101600" rIns="101600" bIns="1016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3A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 </a:t>
            </a:r>
            <a:pPr indent="0" marL="0">
              <a:buNone/>
            </a:pPr>
            <a:r>
              <a:rPr lang="en-US" sz="1100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 Hersteller-Support – Pflege und Weiterentwicklung liegen bei uns (Übergabe-Plan steht in der Roll-out-Liste)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02920" y="5577840"/>
            <a:ext cx="5532120" cy="649224"/>
          </a:xfrm>
          <a:prstGeom prst="roundRect">
            <a:avLst>
              <a:gd name="adj" fmla="val 7042"/>
            </a:avLst>
          </a:prstGeom>
          <a:solidFill>
            <a:srgbClr val="FAF3F2"/>
          </a:solidFill>
          <a:ln w="9525">
            <a:solidFill>
              <a:srgbClr val="EAD6D3"/>
            </a:solidFill>
          </a:ln>
        </p:spPr>
        <p:txBody>
          <a:bodyPr wrap="square" lIns="101600" tIns="101600" rIns="101600" bIns="1016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3A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 </a:t>
            </a:r>
            <a:pPr indent="0" marL="0">
              <a:buNone/>
            </a:pPr>
            <a:r>
              <a:rPr lang="en-US" sz="1100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 noch unsigniert – der SmartScreen-Hinweis bleibt, bis die IT signiert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309360" y="1371600"/>
            <a:ext cx="5532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C97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GEKAUFTE INSTANDHALTUNGS-SOFTWARE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309360" y="1783080"/>
            <a:ext cx="5532120" cy="649224"/>
          </a:xfrm>
          <a:prstGeom prst="roundRect">
            <a:avLst>
              <a:gd name="adj" fmla="val 7042"/>
            </a:avLst>
          </a:prstGeom>
          <a:solidFill>
            <a:srgbClr val="EFF6F1"/>
          </a:solidFill>
          <a:ln w="9525">
            <a:solidFill>
              <a:srgbClr val="D3E5D9"/>
            </a:solidFill>
          </a:ln>
        </p:spPr>
        <p:txBody>
          <a:bodyPr wrap="square" lIns="101600" tIns="101600" rIns="101600" bIns="1016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7D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indent="0" marL="0">
              <a:buNone/>
            </a:pPr>
            <a:r>
              <a:rPr lang="en-US" sz="1100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Hersteller-Support, Schulungen, garantierte Updates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309360" y="2542032"/>
            <a:ext cx="5532120" cy="649224"/>
          </a:xfrm>
          <a:prstGeom prst="roundRect">
            <a:avLst>
              <a:gd name="adj" fmla="val 7042"/>
            </a:avLst>
          </a:prstGeom>
          <a:solidFill>
            <a:srgbClr val="EFF6F1"/>
          </a:solidFill>
          <a:ln w="9525">
            <a:solidFill>
              <a:srgbClr val="D3E5D9"/>
            </a:solidFill>
          </a:ln>
        </p:spPr>
        <p:txBody>
          <a:bodyPr wrap="square" lIns="101600" tIns="101600" rIns="101600" bIns="1016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7D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indent="0" marL="0">
              <a:buNone/>
            </a:pPr>
            <a:r>
              <a:rPr lang="en-US" sz="1100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Großer Funktionsumfang ab Tag 1 (Lager, Einkauf, Mobile-Apps)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309360" y="3300984"/>
            <a:ext cx="5532120" cy="649224"/>
          </a:xfrm>
          <a:prstGeom prst="roundRect">
            <a:avLst>
              <a:gd name="adj" fmla="val 7042"/>
            </a:avLst>
          </a:prstGeom>
          <a:solidFill>
            <a:srgbClr val="EFF6F1"/>
          </a:solidFill>
          <a:ln w="9525">
            <a:solidFill>
              <a:srgbClr val="D3E5D9"/>
            </a:solidFill>
          </a:ln>
        </p:spPr>
        <p:txBody>
          <a:bodyPr wrap="square" lIns="101600" tIns="101600" rIns="101600" bIns="1016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7D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indent="0" marL="0">
              <a:buNone/>
            </a:pPr>
            <a:r>
              <a:rPr lang="en-US" sz="1100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Verantwortung für Betrieb und Sicherheit liegt beim Anbieter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309360" y="4059936"/>
            <a:ext cx="5532120" cy="649224"/>
          </a:xfrm>
          <a:prstGeom prst="roundRect">
            <a:avLst>
              <a:gd name="adj" fmla="val 7042"/>
            </a:avLst>
          </a:prstGeom>
          <a:solidFill>
            <a:srgbClr val="FAF3F2"/>
          </a:solidFill>
          <a:ln w="9525">
            <a:solidFill>
              <a:srgbClr val="EAD6D3"/>
            </a:solidFill>
          </a:ln>
        </p:spPr>
        <p:txBody>
          <a:bodyPr wrap="square" lIns="101600" tIns="101600" rIns="101600" bIns="1016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3A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 </a:t>
            </a:r>
            <a:pPr indent="0" marL="0">
              <a:buNone/>
            </a:pPr>
            <a:r>
              <a:rPr lang="en-US" sz="1100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Lizenz- und Wartungskosten – jedes Jahr, oft je Benutzer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309360" y="4818888"/>
            <a:ext cx="5532120" cy="649224"/>
          </a:xfrm>
          <a:prstGeom prst="roundRect">
            <a:avLst>
              <a:gd name="adj" fmla="val 7042"/>
            </a:avLst>
          </a:prstGeom>
          <a:solidFill>
            <a:srgbClr val="FAF3F2"/>
          </a:solidFill>
          <a:ln w="9525">
            <a:solidFill>
              <a:srgbClr val="EAD6D3"/>
            </a:solidFill>
          </a:ln>
        </p:spPr>
        <p:txBody>
          <a:bodyPr wrap="square" lIns="101600" tIns="101600" rIns="101600" bIns="1016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3A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 </a:t>
            </a:r>
            <a:pPr indent="0" marL="0">
              <a:buNone/>
            </a:pPr>
            <a:r>
              <a:rPr lang="en-US" sz="1100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Einführung als IT-Projekt: Server, Schnittstellen, Monate Vorlauf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309360" y="5577840"/>
            <a:ext cx="5532120" cy="649224"/>
          </a:xfrm>
          <a:prstGeom prst="roundRect">
            <a:avLst>
              <a:gd name="adj" fmla="val 7042"/>
            </a:avLst>
          </a:prstGeom>
          <a:solidFill>
            <a:srgbClr val="FAF3F2"/>
          </a:solidFill>
          <a:ln w="9525">
            <a:solidFill>
              <a:srgbClr val="EAD6D3"/>
            </a:solidFill>
          </a:ln>
        </p:spPr>
        <p:txBody>
          <a:bodyPr wrap="square" lIns="101600" tIns="101600" rIns="101600" bIns="1016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3A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 </a:t>
            </a:r>
            <a:pPr indent="0" marL="0">
              <a:buNone/>
            </a:pPr>
            <a:r>
              <a:rPr lang="en-US" sz="1100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Abläufe müssen sich der Software anpassen – Sonderwünsche kosten extra; Daten oft in Cloud oder Herstellerformat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40080" y="64008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5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Für unsere Größe und unsere Abläufe rechnet sich der Eigenbau – und der Wechsel bliebe jederzeit möglich, weil die Daten uns gehören.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kommt noch – und was ist möglich?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1234440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2F6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VORGEMERKT (besprochen, wird gebaut)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502920" y="1645920"/>
            <a:ext cx="5394960" cy="987552"/>
          </a:xfrm>
          <a:prstGeom prst="roundRect">
            <a:avLst>
              <a:gd name="adj" fmla="val 5556"/>
            </a:avLst>
          </a:prstGeom>
          <a:solidFill>
            <a:srgbClr val="F5F7FA"/>
          </a:solidFill>
          <a:ln w="9525">
            <a:solidFill>
              <a:srgbClr val="E2E4E7"/>
            </a:solidFill>
          </a:ln>
        </p:spPr>
        <p:txBody>
          <a:bodyPr wrap="square" lIns="101600" tIns="101600" rIns="101600" bIns="10160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Papierkorb „Kürzlich gelöscht“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5B65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versehentlich Gelöschtes selbst zurückholen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502920" y="2779776"/>
            <a:ext cx="5394960" cy="987552"/>
          </a:xfrm>
          <a:prstGeom prst="roundRect">
            <a:avLst>
              <a:gd name="adj" fmla="val 5556"/>
            </a:avLst>
          </a:prstGeom>
          <a:solidFill>
            <a:srgbClr val="F5F7FA"/>
          </a:solidFill>
          <a:ln w="9525">
            <a:solidFill>
              <a:srgbClr val="E2E4E7"/>
            </a:solidFill>
          </a:ln>
        </p:spPr>
        <p:txBody>
          <a:bodyPr wrap="square" lIns="101600" tIns="101600" rIns="101600" bIns="10160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Jahres-Archiv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5B65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ältere Jahrgänge in eigene Dateien – die Hauptdatei bleibt schnell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3913632"/>
            <a:ext cx="5394960" cy="987552"/>
          </a:xfrm>
          <a:prstGeom prst="roundRect">
            <a:avLst>
              <a:gd name="adj" fmla="val 5556"/>
            </a:avLst>
          </a:prstGeom>
          <a:solidFill>
            <a:srgbClr val="F5F7FA"/>
          </a:solidFill>
          <a:ln w="9525">
            <a:solidFill>
              <a:srgbClr val="E2E4E7"/>
            </a:solidFill>
          </a:ln>
        </p:spPr>
        <p:txBody>
          <a:bodyPr wrap="square" lIns="101600" tIns="101600" rIns="101600" bIns="10160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Signierte EXE mit der IT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5B65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 SmartScreen-Hinweis mehr beim ersten Start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355080" y="1234440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C97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MÖGLICH, WENN GEWÜNSCHT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6355080" y="1645920"/>
            <a:ext cx="5394960" cy="987552"/>
          </a:xfrm>
          <a:prstGeom prst="roundRect">
            <a:avLst>
              <a:gd name="adj" fmla="val 5556"/>
            </a:avLst>
          </a:prstGeom>
          <a:solidFill>
            <a:srgbClr val="FDF6EC"/>
          </a:solidFill>
          <a:ln w="9525">
            <a:solidFill>
              <a:srgbClr val="EFDDC2"/>
            </a:solidFill>
          </a:ln>
        </p:spPr>
        <p:txBody>
          <a:bodyPr wrap="square" lIns="101600" tIns="101600" rIns="101600" bIns="10160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Ersatzteil-Übersicht &amp; Einkauf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5B65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Bestände, Mindestmengen, Bestell-Liste – die Nachbestell-Markierung aus den Störberichten ist der Anfang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355080" y="2779776"/>
            <a:ext cx="5394960" cy="987552"/>
          </a:xfrm>
          <a:prstGeom prst="roundRect">
            <a:avLst>
              <a:gd name="adj" fmla="val 5556"/>
            </a:avLst>
          </a:prstGeom>
          <a:solidFill>
            <a:srgbClr val="FDF6EC"/>
          </a:solidFill>
          <a:ln w="9525">
            <a:solidFill>
              <a:srgbClr val="EFDDC2"/>
            </a:solidFill>
          </a:ln>
        </p:spPr>
        <p:txBody>
          <a:bodyPr wrap="square" lIns="101600" tIns="101600" rIns="101600" bIns="10160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Feiertage je Standort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5B65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Schritt zu einem zweiten Standort ist vorbereitet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355080" y="3913632"/>
            <a:ext cx="5394960" cy="987552"/>
          </a:xfrm>
          <a:prstGeom prst="roundRect">
            <a:avLst>
              <a:gd name="adj" fmla="val 5556"/>
            </a:avLst>
          </a:prstGeom>
          <a:solidFill>
            <a:srgbClr val="FDF6EC"/>
          </a:solidFill>
          <a:ln w="9525">
            <a:solidFill>
              <a:srgbClr val="EFDDC2"/>
            </a:solidFill>
          </a:ln>
        </p:spPr>
        <p:txBody>
          <a:bodyPr wrap="square" lIns="101600" tIns="101600" rIns="101600" bIns="10160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Weitere Abteilungen als Leser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5B65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Betriebsleitung, Produktion &amp; Co. schauen live mit – ohne Mehraufwand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40080" y="53492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5B65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Wünsche aus Werkstatt und Führungskreis wandern in die Vormerk-Liste – dort wird entschieden, was als Nächstes kommt.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neuer Arbeitsplatz: drei Schritte, keine IT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2002536" y="1463040"/>
            <a:ext cx="640080" cy="640080"/>
          </a:xfrm>
          <a:prstGeom prst="ellipse">
            <a:avLst/>
          </a:prstGeom>
          <a:solidFill>
            <a:srgbClr val="2F669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2286000"/>
            <a:ext cx="3639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Programm-Ordner kopieren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85800" y="2697480"/>
            <a:ext cx="327355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5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fertige Master-Kopie liegt auf dem Laufwerk – einfach auf den Rechner kopieren (z. B. auf den Desktop).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824728" y="1463040"/>
            <a:ext cx="640080" cy="640080"/>
          </a:xfrm>
          <a:prstGeom prst="ellipse">
            <a:avLst/>
          </a:prstGeom>
          <a:solidFill>
            <a:srgbClr val="2F669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325112" y="2286000"/>
            <a:ext cx="3639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Werkstatt-Cockpit.exe starten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07992" y="2697480"/>
            <a:ext cx="327355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5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Beim allerersten Start einmal die Windows-Nachfrage bestätigen. Pfade und Datei-Verbindung sitzen dank Vorbelegung von selbst.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9646920" y="1463040"/>
            <a:ext cx="640080" cy="640080"/>
          </a:xfrm>
          <a:prstGeom prst="ellipse">
            <a:avLst/>
          </a:prstGeom>
          <a:solidFill>
            <a:srgbClr val="2F669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8147304" y="2286000"/>
            <a:ext cx="3639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Arbeiten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330184" y="2697480"/>
            <a:ext cx="327355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5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 dann: Doppelklick, App geht auf, Stand ist aktuell. Neue Versionen meldet der grüne Balken – ein Klick genügt.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914400" y="466344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B65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Aufwand je Arbeitsplatz: wenige Minuten, ohne Adminrechte-Installation. </a:t>
            </a:r>
            <a:pPr algn="ctr" indent="0" marL="0">
              <a:buNone/>
            </a:pPr>
            <a:r>
              <a:rPr lang="en-US" sz="1350" b="1" dirty="0">
                <a:solidFill>
                  <a:srgbClr val="22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bebilderte Aufsetz-Anleitung (PDF) liegt bei</a:t>
            </a:r>
            <a:pPr algn="ctr" indent="0" marL="0">
              <a:buNone/>
            </a:pPr>
            <a:r>
              <a:rPr lang="en-US" sz="1350" dirty="0">
                <a:solidFill>
                  <a:srgbClr val="5B65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inklusive aller Download-Adressen.</a:t>
            </a:r>
            <a:endParaRPr lang="en-US" sz="13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2226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737360"/>
            <a:ext cx="5760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Programm.  Eine Datei.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Alles nachweisbar.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3474720"/>
            <a:ext cx="5486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Rundgang in der App – 15 Minuten am echten System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CADC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Lesezugang für die Betriebsleitung ist sofort möglich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CADC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Fragen &amp; Wünsche fließen in die Vormerk-Liste ein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60350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8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Roberto Ciraci  ·  Werkstatt</a:t>
            </a:r>
            <a:endParaRPr lang="en-US" sz="1300" dirty="0"/>
          </a:p>
        </p:txBody>
      </p:sp>
      <p:pic>
        <p:nvPicPr>
          <p:cNvPr id="5" name="Image 0" descr="/tmp/claude-0/-home-user-WerkstattKalender/8b2eab4a-3225-51dd-900c-dbf3d21c0a06/scratchpad/doku-shots/pl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1051560"/>
            <a:ext cx="5120640" cy="3440430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9AA2AA">
                <a:alpha val="45000"/>
              </a:srgbClr>
            </a:outerShdw>
          </a:effectLst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2026-09-08T06:32:10Z</dcterms:created>
  <dcterms:modified xsi:type="dcterms:W3CDTF">2026-09-08T06:32:10Z</dcterms:modified>
</cp:coreProperties>
</file>