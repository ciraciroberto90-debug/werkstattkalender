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Begrüßung. Ein Werkzeug, das die Werkstatt selbst eingeführt hat und das produktiv auf den Werkstatt-Rechnern läuft - als Desktop-Programm, mit den Daten auf dem Firmenlaufwerk. Dasselbe Programm für jede Werkstatt, mit eigenen Daten je Standort.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Kurzer Überblick über den Ablauf - acht Stationen, am Ende der Ausblick und das Angebot zum Rundgang am echten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 rote Faden ist Transparenz: Zahlen statt Bauchgefühl, eine Oberfläche, die jeder versteht. Die einzelnen Funktionen kommen auf den nächsten Folien.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Kernbotschaft: bewusst einfach. Alles bleibt im Haus, die Rechte regelt das Laufwerk, Updates verteilen sich von selbst. Seit September trägt dasselbe Programm mehrere Werkstätten mit getrennten Daten.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 Startbildschirm jedes Rechners. Alles Wichtige ohne einen einzigen Klick - auch für reine Leser wie Betriebsleitung oder Nachbarabteilungen.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Tagesliste bleibt, wie sie war. Zusätzlich kann die Runde am Morgen je Kollegen durchgehen, was heute anliegt, und direkt abhaken.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Niemand schreibt den Plan mehr von Hand fort - die Rotation rechnet die App, Liegengebliebenes bleibt ehrlich sichtbar. Feiertage und freie Tage stellt jede Werkstatt selbst ein.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Rechte in der App sind eine Leitplanke gegen Versehen. Echtes Sperren leisten die Laufwerksrechte - beides zusammen ergibt das Bild.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 zweite Standort war der Anlass, das Programm sauber zu trennen: ein Build, je Werkstatt ein Datenordner. Der Gruppen-Pass liegt auf dem Rechner des Verwalters, die andere Werkstatt sieht davon in ihren Einstellungen nichts.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Das unterscheidet das Cockpit von einer gewachsenen Excel-Lösung: Alles ist automatisiert getestet. Die Zahlen stammen aus dem Volllauf vom 21.09.2026: 79 Härtetests, über 1.400 Einzelprüfungen, dazu acht weitere Suiten (Sync-Fokus, Smoke-Test, Stress, Klickrunde, Suchtempo).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Hochrechnung: Ein volles Werkstatt-Jahr sind rund 4.500 Einträge - die Messfahrt entspricht rund 15 Jahren ohne Aufräumen. Dazu die Steuerung: Speicher-Warnung plus Jahres-Archiv, Fotos außerhalb der Datei, Klartext-Format.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Kurz und ehrlich: Es gab keine Anschaffung, es gibt keine laufenden Kosten und keinen IT-Betriebsaufwand. Der Gewinn ist Zeit - beim Planen, bei der Übergabe, vor Audits - und dass nichts mehr verloren geht.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Bewusst ehrlich in beide Richtungen: Gekaufte Systeme bringen Support und Funktionsbreite, kosten aber jedes Jahr und zwingen die Abläufe in ihr Korsett. Der Eigenbau ist passgenau und kostenfrei; die offene Flanke - Pflege und Übergabe - ist benannt.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Links: fest vorgemerkt. Rechts: möglich auf Zuruf. Seit dem 08.09. gebaut und deshalb hier nicht mehr aufgeführt: Jahres-Archiv, Feiertage je Standort, zweiter Standort, Rechte je Gruppe, Personalisieren.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Einmalig die Master-Kopie auf den Rechner, ab dann kommen alle Updates über den grünen Balken vom Laufwerk. Die PDF-Anleitung führt Schritt für Schritt durch.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Abschluss: Angebot für einen Rundgang am echten System. Lesezugang kostet nichts und zeigt mehr als jede Folie.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3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09728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BTA-Cockpit</a:t>
            </a:r>
            <a:endParaRPr lang="en-US" sz="4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7CC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Instandhaltung, Schichtbuch und Störberichte – ein Programm auf jedem Werkstatt-Rechner.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6060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Vorstellung · Stand 21.09.2026 · R. Ciraci, Werkstattleiter BTA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3611880"/>
            <a:ext cx="26517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Image 0" descr="/home/user/WerkstattKalender/doku/logos/scheurich-group-haupt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3776472"/>
            <a:ext cx="237744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474720" y="3611880"/>
            <a:ext cx="13716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" name="Image 1" descr="/home/user/WerkstattKalender/doku/logos/soendgen-kerami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5888" y="3675888"/>
            <a:ext cx="969264" cy="69494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3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Worum es heute geht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Acht Stationen – mit vielen Bildschirmfotos aus dem laufenden Betrieb (Beispieldaten)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457200" cy="457200"/>
          </a:xfrm>
          <a:prstGeom prst="ellipse">
            <a:avLst/>
          </a:prstGeom>
          <a:solidFill>
            <a:srgbClr val="C97A2B"/>
          </a:solidFill>
          <a:ln w="12700">
            <a:solidFill>
              <a:srgbClr val="C97A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2344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3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 wir standen – wo wir heute sind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1545336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Vorher / heute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457200" cy="457200"/>
          </a:xfrm>
          <a:prstGeom prst="ellipse">
            <a:avLst/>
          </a:prstGeom>
          <a:solidFill>
            <a:srgbClr val="C97A2B"/>
          </a:solidFill>
          <a:ln w="12700">
            <a:solidFill>
              <a:srgbClr val="C97A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21031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3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ist das BTA-Cockpit?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414016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Programm, Dateien, mehrere Werkstätten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3017520"/>
            <a:ext cx="457200" cy="457200"/>
          </a:xfrm>
          <a:prstGeom prst="ellipse">
            <a:avLst/>
          </a:prstGeom>
          <a:solidFill>
            <a:srgbClr val="C97A2B"/>
          </a:solidFill>
          <a:ln w="12700">
            <a:solidFill>
              <a:srgbClr val="C97A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97180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3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App im Alltag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282696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Übersicht · PitStops · Planung · Schichtplan · Störberichte · Berichte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886200"/>
            <a:ext cx="457200" cy="457200"/>
          </a:xfrm>
          <a:prstGeom prst="ellipse">
            <a:avLst/>
          </a:prstGeom>
          <a:solidFill>
            <a:srgbClr val="C97A2B"/>
          </a:solidFill>
          <a:ln w="12700">
            <a:solidFill>
              <a:srgbClr val="C97A2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404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3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Beim Audit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051560" y="4151376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Nachweise auf Knopfdruck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754880" y="1280160"/>
            <a:ext cx="457200" cy="457200"/>
          </a:xfrm>
          <a:prstGeom prst="ellipse">
            <a:avLst/>
          </a:prstGeom>
          <a:solidFill>
            <a:srgbClr val="C97A2B"/>
          </a:solidFill>
          <a:ln w="12700">
            <a:solidFill>
              <a:srgbClr val="C97A2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75488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349240" y="12344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3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Rollen, Rechte, Personalisieren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349240" y="1545336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sieht was – und wie jeder Rechner aussieht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754880" y="2148840"/>
            <a:ext cx="457200" cy="457200"/>
          </a:xfrm>
          <a:prstGeom prst="ellipse">
            <a:avLst/>
          </a:prstGeom>
          <a:solidFill>
            <a:srgbClr val="C97A2B"/>
          </a:solidFill>
          <a:ln w="12700">
            <a:solidFill>
              <a:srgbClr val="C97A2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5488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349240" y="21031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3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Nutzung und Verlässlichkeit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349240" y="2414016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 zusammenführen, gemessen statt behauptet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754880" y="3017520"/>
            <a:ext cx="457200" cy="457200"/>
          </a:xfrm>
          <a:prstGeom prst="ellipse">
            <a:avLst/>
          </a:prstGeom>
          <a:solidFill>
            <a:srgbClr val="C97A2B"/>
          </a:solidFill>
          <a:ln w="12700">
            <a:solidFill>
              <a:srgbClr val="C97A2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75488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5349240" y="297180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3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Kosten, Ersparnis, Kaufsoftware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349240" y="3282696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Ehrlich in beide Richtungen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754880" y="3886200"/>
            <a:ext cx="457200" cy="457200"/>
          </a:xfrm>
          <a:prstGeom prst="ellipse">
            <a:avLst/>
          </a:prstGeom>
          <a:solidFill>
            <a:srgbClr val="C97A2B"/>
          </a:solidFill>
          <a:ln w="12700">
            <a:solidFill>
              <a:srgbClr val="C97A2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75488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5349240" y="38404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3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noch kommt – der Einstieg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349240" y="4151376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Ausblick, drei Schritte je Arbeitsplatz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EB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BTA-Cockpit · Instandhaltung digital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822960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3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 wir standen – und wo wir heute sind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VORHER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846320" y="10515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3657600" cy="493776"/>
          </a:xfrm>
          <a:prstGeom prst="roundRect">
            <a:avLst>
              <a:gd name="adj" fmla="val 18519"/>
            </a:avLst>
          </a:prstGeom>
          <a:solidFill>
            <a:srgbClr val="FBEDEC"/>
          </a:solidFill>
          <a:ln w="12700">
            <a:solidFill>
              <a:srgbClr val="FBEDE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371600"/>
            <a:ext cx="3429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Stände und Zahlen steckten in Köpfen, Ordnern und Excel-Tabellen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251960" y="1499616"/>
            <a:ext cx="457200" cy="237744"/>
          </a:xfrm>
          <a:prstGeom prst="rightArrow">
            <a:avLst/>
          </a:prstGeom>
          <a:solidFill>
            <a:srgbClr val="C97A2B"/>
          </a:solidFill>
          <a:ln w="12700">
            <a:solidFill>
              <a:srgbClr val="C97A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46320" y="1371600"/>
            <a:ext cx="3840480" cy="493776"/>
          </a:xfrm>
          <a:prstGeom prst="roundRect">
            <a:avLst>
              <a:gd name="adj" fmla="val 18519"/>
            </a:avLst>
          </a:prstGeom>
          <a:solidFill>
            <a:srgbClr val="E8F3EC"/>
          </a:solidFill>
          <a:ln w="12700">
            <a:solidFill>
              <a:srgbClr val="E8F3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83480" y="1371600"/>
            <a:ext cx="3611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Transparenz für alle: Quoten, Trends und Ausfallzeiten als Zahlen und Diagramme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1938528"/>
            <a:ext cx="3657600" cy="493776"/>
          </a:xfrm>
          <a:prstGeom prst="roundRect">
            <a:avLst>
              <a:gd name="adj" fmla="val 18519"/>
            </a:avLst>
          </a:prstGeom>
          <a:solidFill>
            <a:srgbClr val="FBEDEC"/>
          </a:solidFill>
          <a:ln w="12700">
            <a:solidFill>
              <a:srgbClr val="FBED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1938528"/>
            <a:ext cx="3429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Schichtübergabe aus dem Gedächtnis – Wichtiges ging unter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251960" y="2066544"/>
            <a:ext cx="457200" cy="237744"/>
          </a:xfrm>
          <a:prstGeom prst="rightArrow">
            <a:avLst/>
          </a:prstGeom>
          <a:solidFill>
            <a:srgbClr val="C97A2B"/>
          </a:solidFill>
          <a:ln w="12700">
            <a:solidFill>
              <a:srgbClr val="C97A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46320" y="1938528"/>
            <a:ext cx="3840480" cy="493776"/>
          </a:xfrm>
          <a:prstGeom prst="roundRect">
            <a:avLst>
              <a:gd name="adj" fmla="val 18519"/>
            </a:avLst>
          </a:prstGeom>
          <a:solidFill>
            <a:srgbClr val="E8F3EC"/>
          </a:solidFill>
          <a:ln w="12700">
            <a:solidFill>
              <a:srgbClr val="E8F3E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83480" y="1938528"/>
            <a:ext cx="3611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Übersicht, Pinnwand und Schichtbericht: die nächste Schicht sieht alles sofort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505456"/>
            <a:ext cx="3657600" cy="493776"/>
          </a:xfrm>
          <a:prstGeom prst="roundRect">
            <a:avLst>
              <a:gd name="adj" fmla="val 18519"/>
            </a:avLst>
          </a:prstGeom>
          <a:solidFill>
            <a:srgbClr val="FBEDEC"/>
          </a:solidFill>
          <a:ln w="12700">
            <a:solidFill>
              <a:srgbClr val="FBEDE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2505456"/>
            <a:ext cx="3429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Jeder kannte nur seinen Teil – das Ganze war schwer zu durchschauen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251960" y="2633472"/>
            <a:ext cx="457200" cy="237744"/>
          </a:xfrm>
          <a:prstGeom prst="rightArrow">
            <a:avLst/>
          </a:prstGeom>
          <a:solidFill>
            <a:srgbClr val="C97A2B"/>
          </a:solidFill>
          <a:ln w="12700">
            <a:solidFill>
              <a:srgbClr val="C97A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46320" y="2505456"/>
            <a:ext cx="3840480" cy="493776"/>
          </a:xfrm>
          <a:prstGeom prst="roundRect">
            <a:avLst>
              <a:gd name="adj" fmla="val 18519"/>
            </a:avLst>
          </a:prstGeom>
          <a:solidFill>
            <a:srgbClr val="E8F3EC"/>
          </a:solidFill>
          <a:ln w="12700">
            <a:solidFill>
              <a:srgbClr val="E8F3E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983480" y="2505456"/>
            <a:ext cx="3611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Oberfläche für alles – als Werkstatt einfach zu verstehen, jeder wird abgeholt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072384"/>
            <a:ext cx="3657600" cy="493776"/>
          </a:xfrm>
          <a:prstGeom prst="roundRect">
            <a:avLst>
              <a:gd name="adj" fmla="val 18519"/>
            </a:avLst>
          </a:prstGeom>
          <a:solidFill>
            <a:srgbClr val="FBEDEC"/>
          </a:solidFill>
          <a:ln w="12700">
            <a:solidFill>
              <a:srgbClr val="FBEDE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94360" y="3072384"/>
            <a:ext cx="3429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Leistung der Werkstatt blieb unsichtbar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251960" y="3200400"/>
            <a:ext cx="457200" cy="237744"/>
          </a:xfrm>
          <a:prstGeom prst="rightArrow">
            <a:avLst/>
          </a:prstGeom>
          <a:solidFill>
            <a:srgbClr val="C97A2B"/>
          </a:solidFill>
          <a:ln w="12700">
            <a:solidFill>
              <a:srgbClr val="C97A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846320" y="3072384"/>
            <a:ext cx="3840480" cy="493776"/>
          </a:xfrm>
          <a:prstGeom prst="roundRect">
            <a:avLst>
              <a:gd name="adj" fmla="val 18519"/>
            </a:avLst>
          </a:prstGeom>
          <a:solidFill>
            <a:srgbClr val="E8F3EC"/>
          </a:solidFill>
          <a:ln w="12700">
            <a:solidFill>
              <a:srgbClr val="E8F3E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983480" y="3072384"/>
            <a:ext cx="3611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Erledigte Wartung und behobene Störungen stehen schwarz auf weiß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3639312"/>
            <a:ext cx="3657600" cy="493776"/>
          </a:xfrm>
          <a:prstGeom prst="roundRect">
            <a:avLst>
              <a:gd name="adj" fmla="val 18519"/>
            </a:avLst>
          </a:prstGeom>
          <a:solidFill>
            <a:srgbClr val="FBEDEC"/>
          </a:solidFill>
          <a:ln w="12700">
            <a:solidFill>
              <a:srgbClr val="FBEDE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94360" y="3639312"/>
            <a:ext cx="3429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Entscheidungen aus dem Bauch heraus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251960" y="3767328"/>
            <a:ext cx="457200" cy="237744"/>
          </a:xfrm>
          <a:prstGeom prst="rightArrow">
            <a:avLst/>
          </a:prstGeom>
          <a:solidFill>
            <a:srgbClr val="C97A2B"/>
          </a:solidFill>
          <a:ln w="12700">
            <a:solidFill>
              <a:srgbClr val="C97A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46320" y="3639312"/>
            <a:ext cx="3840480" cy="493776"/>
          </a:xfrm>
          <a:prstGeom prst="roundRect">
            <a:avLst>
              <a:gd name="adj" fmla="val 18519"/>
            </a:avLst>
          </a:prstGeom>
          <a:solidFill>
            <a:srgbClr val="E8F3EC"/>
          </a:solidFill>
          <a:ln w="12700">
            <a:solidFill>
              <a:srgbClr val="E8F3E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983480" y="3639312"/>
            <a:ext cx="3611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Entscheiden mit Zahlen: wo sich Störungen häufen, welche Anlage Zeit frisst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Gebaut aus der Werkstatt heraus – ohne Server, ohne Datenbank, ohne eine einzige IT-Anfrage.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EB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BTA-Cockpit · Instandhaltung digital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822960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3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ist das BTA-Cockpit?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Bewusst einfach: ein Programm-Ordner, zwei Datendateien, kein Server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298448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901952"/>
            <a:ext cx="1645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Programm-Ordner je Rechner – entpacken, starten, fertig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560320" y="123444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697480" y="1298448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697480" y="1901952"/>
            <a:ext cx="1645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Datendateien im gemeinsamen Werkstatt-Ordner auf dem Laufwerk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00600" y="1298448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s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4800600" y="1901952"/>
            <a:ext cx="1645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automatischer Abgleich – fremde Änderungen erscheinen von selbst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766560" y="123444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903720" y="1298448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3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6903720" y="1901952"/>
            <a:ext cx="1645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Server, Datenbanken, Clouds, Installationen, Adminrechte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834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Programm läuft auf jedem Werkstatt-Rechner; App-Datei und Datendateien liegen im Werkstatt-Ordner auf dem Firmenlaufwerk. Wer bearbeiten darf, regeln die Laufwerks-Rechte – ohne Schreibrecht schaltet die App von selbst auf „nur ansehen“.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340156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neue Version verteilen heißt: eine Datei in den Ordner legen. An jedem Rechner meldet sich ein grüner Balken „Neue Version verfügbar“ – ein Klick, fertig.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393192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E9F0F6"/>
          </a:solidFill>
          <a:ln w="12700">
            <a:solidFill>
              <a:srgbClr val="E9F0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39319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Mehrere Werkstätten, ein Programm: </a:t>
            </a:r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 Werkstatt hat ihre eigenen Datendateien, ihr eigenes Team, eigene Anlagen und Feiertage. Ein Gruppen-Verwalter springt in der Kopfzeile zwischen den Werkstätten – Mitarbeiter und Daten bleiben klar getrennt.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EB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BTA-Cockpit · Instandhaltung digital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3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Übersicht: die Lage auf einen Blick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Startbildschirm jedes Rechners – ohne einen einzigen Klick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0624" y="1152144"/>
            <a:ext cx="5285232" cy="3339389"/>
          </a:xfrm>
          <a:prstGeom prst="roundRect">
            <a:avLst>
              <a:gd name="adj" fmla="val 1369"/>
            </a:avLst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2000"/>
              </a:srgbClr>
            </a:outerShdw>
          </a:effectLst>
        </p:spPr>
      </p:sp>
      <p:pic>
        <p:nvPicPr>
          <p:cNvPr id="5" name="Image 0" descr="/home/user/WerkstattKalender/doku/vorstellung-bta-cockpit/shots/01-uebersic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5212080" cy="326623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89320" y="1234440"/>
            <a:ext cx="31546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Kennzahlen des Tages: fällig, erledigt, überfällig – dazu die TPM-Monatsquote (PitStops &amp; R+I) und OEE aus der Excel-Tabelle.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ist jetzt da? Schichten mit Anwesenheit, live aus dem Schichtplan.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Offene Störungen stehen rot ganz oben – nichts geht zwischen den Schichten unter.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Tagesliste mit den Terminen von heute, Pinnwand mit Bildern – für alle sichtbar, auch am Leser-Rechner.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Linkstreifen: Dokumente und Laufwerks-Pfade je Benutzer, ein Klick öffnet sie.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546397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Beispieldaten · Kennzahlen, Anwesenheit, offene Störungen, Tagesliste und Pinnwand.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EB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BTA-Cockpit · Instandhaltung digital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822960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3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Tagesliste: was heute anliegt, wer es macht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 seit dem 21.09.: die heute Anwesenden und ihre geplanten Punkte direkt in der Kachel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0624" y="1152144"/>
            <a:ext cx="4096512" cy="2594458"/>
          </a:xfrm>
          <a:prstGeom prst="roundRect">
            <a:avLst>
              <a:gd name="adj" fmla="val 1762"/>
            </a:avLst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2000"/>
              </a:srgbClr>
            </a:outerShdw>
          </a:effectLst>
        </p:spPr>
      </p:sp>
      <p:pic>
        <p:nvPicPr>
          <p:cNvPr id="5" name="Image 0" descr="/home/user/WerkstattKalender/doku/vorstellung-bta-cockpit/shots/18-termin-anwesen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4023360" cy="252130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626864" y="1152144"/>
            <a:ext cx="4096512" cy="2594458"/>
          </a:xfrm>
          <a:prstGeom prst="roundRect">
            <a:avLst>
              <a:gd name="adj" fmla="val 1762"/>
            </a:avLst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2000"/>
              </a:srgbClr>
            </a:outerShdw>
          </a:effectLst>
        </p:spPr>
      </p:sp>
      <p:pic>
        <p:nvPicPr>
          <p:cNvPr id="7" name="Image 1" descr="/home/user/WerkstattKalender/doku/vorstellung-bta-cockpit/shots/18b-termin-pers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188720"/>
            <a:ext cx="4023360" cy="252130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57200" y="3819754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Knopf „Anwesende“ zeigt, wer heute da ist – nach Früh, Spät und Nacht, mit Fortschritt. Wer fehlt (Schule, Krank, Urlaub), steht grau darunter.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663440" y="3819754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Kollege gewählt: seine eingeplanten Arbeiten, fälligen To-dos und Notizen des Tages – Kästchen hakt direkt ab, der Stift öffnet den Dialog.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EB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BTA-Cockpit · Instandhaltung digital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822960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3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PitStops &amp; Rundgänge pflegen sich selbst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TPM ist das Ganze – PitStops sind die geplanten Wartungen, R+I die Rundgänge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0624" y="1152144"/>
            <a:ext cx="5285232" cy="3339389"/>
          </a:xfrm>
          <a:prstGeom prst="roundRect">
            <a:avLst>
              <a:gd name="adj" fmla="val 1369"/>
            </a:avLst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2000"/>
              </a:srgbClr>
            </a:outerShdw>
          </a:effectLst>
        </p:spPr>
      </p:sp>
      <p:pic>
        <p:nvPicPr>
          <p:cNvPr id="5" name="Image 0" descr="/home/user/WerkstattKalender/doku/vorstellung-bta-cockpit/shots/10-tpm-pl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5212080" cy="326623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89320" y="1234440"/>
            <a:ext cx="31546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Automatische Rotation über die Wochen – Feiertage des eigenen Bundeslands und Betriebsferien eingerechnet.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Klick hakt ab – direkt auf der Kachel, die Kennfarbe der Anlage bleibt stehen.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Regeltermine mit Serie: Abteilungsversammlung &amp; Co., auf Wunsch mit Pinnwand-Zettel.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Versäumtes bleibt sichtbar, bis es erledigt oder bewusst verschoben ist – das Termin-Archiv zeigt es auch den Lesern.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546397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Plan-Kalender im September – Kennfarben je Anlage, grüner Haken = erledigt.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EB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BTA-Cockpit · Instandhaltung digital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822960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3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Wochenplanung: Arbeiten per Ziehen verteilen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neben dem Plan – die Wocheneinteilung entsteht in Minuten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0624" y="1152144"/>
            <a:ext cx="5285232" cy="3339389"/>
          </a:xfrm>
          <a:prstGeom prst="roundRect">
            <a:avLst>
              <a:gd name="adj" fmla="val 1369"/>
            </a:avLst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2000"/>
              </a:srgbClr>
            </a:outerShdw>
          </a:effectLst>
        </p:spPr>
      </p:sp>
      <p:pic>
        <p:nvPicPr>
          <p:cNvPr id="5" name="Image 0" descr="/home/user/WerkstattKalender/doku/vorstellung-bta-cockpit/shots/03-planu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5212080" cy="326623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89320" y="1234440"/>
            <a:ext cx="31546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neben dem Plan: alle offenen Arbeiten in einem frei verschiebbaren Fenster, nach Gewerk filterbar.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Zuweisen = Ziehen: Arbeit auf die Zeile von Person und Tag ziehen – fertig. Umplanen genauso.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Erledigtes verschwindet nicht: der Chip wird grün mit Haken und bleibt stehen – die Woche bleibt nachvollziehbar.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Notizen in der Zelle sind Aufträge: abhaken heißt erledigt.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Prioritäten und Gewerke (Mechanik / Elektrik) farblich sofort zu unterscheiden.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546397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Wochenplan – Arbeiten auf Person und Tag ziehen.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EB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BTA-Cockpit · Instandhaltung digital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822960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3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Schichtplan: eine Matrix für den ganzen Monat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Person und Tag eine Schicht – mit Notizen, die nur die richtige Gruppe sieht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0624" y="1152144"/>
            <a:ext cx="5285232" cy="3339389"/>
          </a:xfrm>
          <a:prstGeom prst="roundRect">
            <a:avLst>
              <a:gd name="adj" fmla="val 1369"/>
            </a:avLst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2000"/>
              </a:srgbClr>
            </a:outerShdw>
          </a:effectLst>
        </p:spPr>
      </p:sp>
      <p:pic>
        <p:nvPicPr>
          <p:cNvPr id="5" name="Image 0" descr="/home/user/WerkstattKalender/doku/vorstellung-bta-cockpit/shots/02-schichtpl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5212080" cy="326623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89320" y="1234440"/>
            <a:ext cx="31546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Früh, Spät, Nacht, Urlaub, Krank, Schule und eigene Schichtarten – ein Klick in die Zelle, Tag oder ganze Woche.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Notizen an der Zelle (Zahnarzt, Gespräch, Hinweis) mit Sichtbarkeit: alle, nur Bearbeiter oder nur Verwalter.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Feiertage stehen rot, die Anwesenheit auf der Übersicht kommt live aus dieser Matrix.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 Ausdrucke: Monat quer und je Kalenderwoche ein Blatt fürs Schwarze Brett.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546397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Monatsmatrix – Farben je Schichtart, Feiertage rot.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EB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BTA-Cockpit · Instandhaltung digital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822960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3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Störberichte: dokumentiert, mit Foto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digitale Schichtbuch – eine eigene Datei, die alle beschreiben dürfen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0624" y="1152144"/>
            <a:ext cx="5285232" cy="3339389"/>
          </a:xfrm>
          <a:prstGeom prst="roundRect">
            <a:avLst>
              <a:gd name="adj" fmla="val 1369"/>
            </a:avLst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2000"/>
              </a:srgbClr>
            </a:outerShdw>
          </a:effectLst>
        </p:spPr>
      </p:sp>
      <p:pic>
        <p:nvPicPr>
          <p:cNvPr id="5" name="Image 0" descr="/home/user/WerkstattKalender/doku/vorstellung-bta-cockpit/shots/06b-stoerungen-off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5212080" cy="326623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89320" y="1234440"/>
            <a:ext cx="31546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Fortlaufende Nummer je Jahr – jeder Bericht ist eindeutig zitierbar.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Ausfallzeit je Anlage ausgewertet – Häufungen (3. Störung in 30 Tagen) meldet die App von selbst.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Fotos vom Schaden direkt aus der Handy-Kamera – sagt der nächsten Schicht mehr als drei Sätze.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Offene Maßnahmen wandern per Klick als Arbeit ins Backlog – nichts bleibt vergraben.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Schichtbericht der letzten drei Schichten auf Knopfdruck – für die Morgenrunde.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546397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Störberichte nach Datum und Schicht – mit Ausfallzeit und Status.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EB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BTA-Cockpit · Instandhaltung digital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822960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3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Berichte: To-dos, Backlog und Zeiterfassung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Bereich Berichte bündelt, was sonst in Listen und Zetteln verstreut war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0624" y="1152144"/>
            <a:ext cx="4096512" cy="2594458"/>
          </a:xfrm>
          <a:prstGeom prst="roundRect">
            <a:avLst>
              <a:gd name="adj" fmla="val 1762"/>
            </a:avLst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2000"/>
              </a:srgbClr>
            </a:outerShdw>
          </a:effectLst>
        </p:spPr>
      </p:sp>
      <p:pic>
        <p:nvPicPr>
          <p:cNvPr id="5" name="Image 0" descr="/home/user/WerkstattKalender/doku/vorstellung-bta-cockpit/shots/05-to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4023360" cy="252130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626864" y="1152144"/>
            <a:ext cx="4096512" cy="2594458"/>
          </a:xfrm>
          <a:prstGeom prst="roundRect">
            <a:avLst>
              <a:gd name="adj" fmla="val 1762"/>
            </a:avLst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2000"/>
              </a:srgbClr>
            </a:outerShdw>
          </a:effectLst>
        </p:spPr>
      </p:sp>
      <p:pic>
        <p:nvPicPr>
          <p:cNvPr id="7" name="Image 1" descr="/home/user/WerkstattKalender/doku/vorstellung-bta-cockpit/shots/08-zeiterfassu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188720"/>
            <a:ext cx="4023360" cy="252130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57200" y="3819754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To-do-Liste: erteilt von, für wen, bis wann – überfällig rot, Vorwarnung orange. Abhaken hält fest, wer es erledigt hat.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663440" y="3819754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Zeiterfassung je Mitarbeiter und Kostenstelle mit Jahres-Export nach Excel; dazu der Backlog aller offenen Arbeiten und eine Suche über alle Berichte.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EB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BTA-Cockpit · Instandhaltung digital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822960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3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Beim Audit: Nachweise auf Knopfdruck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Auditor fragt – die App antwortet: Register öffnen oder Blatt drucken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0624" y="1152144"/>
            <a:ext cx="5285232" cy="3339389"/>
          </a:xfrm>
          <a:prstGeom prst="roundRect">
            <a:avLst>
              <a:gd name="adj" fmla="val 1369"/>
            </a:avLst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2000"/>
              </a:srgbClr>
            </a:outerShdw>
          </a:effectLst>
        </p:spPr>
      </p:sp>
      <p:pic>
        <p:nvPicPr>
          <p:cNvPr id="5" name="Image 0" descr="/home/user/WerkstattKalender/doku/vorstellung-bta-cockpit/shots/20-druck-pruefnachweis-dial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5212080" cy="326623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89320" y="1234440"/>
            <a:ext cx="31546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Prüfnachweis als A4-Ausdruck: unterschriftsfähig, mit Anlage, Soll und Erledigt-Stand – direkt aus der App.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Termintreue schwarz auf weiß: „X von Y erledigt · Z %“ je Monat – Zeitraum frei wählbar, dazu die Aufschlüsselung je Anlage.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Lückenlose Historie je Anlage: die Anlagen-Akte mit allen Terminen, Arbeiten, Störungen, Ersatzteilen und Ausfallzeiten – über Jahre.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hat wann was geändert: der Verlauf der gemeinsamen Datei beantwortet es in Sekunden.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546397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Druckdialog mit echter Vorschau – hier der Prüfnachweis.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EB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BTA-Cockpit · Instandhaltung digital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822960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3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Rollen und Rechte: wer sieht was, wer darf was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Drei Benutzergruppen – und eine Rechte-Tabelle, die der Verwalter selbst pflegt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0624" y="1152144"/>
            <a:ext cx="4096512" cy="2594458"/>
          </a:xfrm>
          <a:prstGeom prst="roundRect">
            <a:avLst>
              <a:gd name="adj" fmla="val 1762"/>
            </a:avLst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2000"/>
              </a:srgbClr>
            </a:outerShdw>
          </a:effectLst>
        </p:spPr>
      </p:sp>
      <p:pic>
        <p:nvPicPr>
          <p:cNvPr id="5" name="Image 0" descr="/home/user/WerkstattKalender/doku/vorstellung-bta-cockpit/shots/15-benutzer-rech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4023360" cy="252130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626864" y="1152144"/>
            <a:ext cx="4096512" cy="2594458"/>
          </a:xfrm>
          <a:prstGeom prst="roundRect">
            <a:avLst>
              <a:gd name="adj" fmla="val 1762"/>
            </a:avLst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2000"/>
              </a:srgbClr>
            </a:outerShdw>
          </a:effectLst>
        </p:spPr>
      </p:sp>
      <p:pic>
        <p:nvPicPr>
          <p:cNvPr id="7" name="Image 1" descr="/home/user/WerkstattKalender/doku/vorstellung-bta-cockpit/shots/17-ansicht-menu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188720"/>
            <a:ext cx="4023360" cy="252130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57200" y="3819754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Verwalter, Bearbeiter, Leser – je Bereich „ausgeblendet“, „nur ansehen“ oder „bearbeiten“. Gilt sofort auf allen Rechnern. Je Benutzer eine eigene Link-Sammlung.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663440" y="3819754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Ansichts-Schalter (Auge): der Verwalter sieht das Cockpit so, wie es ein Bearbeiter oder Leser sieht – prüfen, bevor Rechte verteilt werden.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EB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BTA-Cockpit · Instandhaltung digital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822960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3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Personalisieren &amp; Regeln: je Werkstatt, je Rechner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auf dem Bildschirm steht und was im Haus gilt, wird eingestellt – nicht programmiert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0624" y="1152144"/>
            <a:ext cx="4096512" cy="2594458"/>
          </a:xfrm>
          <a:prstGeom prst="roundRect">
            <a:avLst>
              <a:gd name="adj" fmla="val 1762"/>
            </a:avLst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2000"/>
              </a:srgbClr>
            </a:outerShdw>
          </a:effectLst>
        </p:spPr>
      </p:sp>
      <p:pic>
        <p:nvPicPr>
          <p:cNvPr id="5" name="Image 0" descr="/home/user/WerkstattKalender/doku/vorstellung-bta-cockpit/shots/16b-anordn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4023360" cy="252130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626864" y="1152144"/>
            <a:ext cx="4096512" cy="2594458"/>
          </a:xfrm>
          <a:prstGeom prst="roundRect">
            <a:avLst>
              <a:gd name="adj" fmla="val 1762"/>
            </a:avLst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2000"/>
              </a:srgbClr>
            </a:outerShdw>
          </a:effectLst>
        </p:spPr>
      </p:sp>
      <p:pic>
        <p:nvPicPr>
          <p:cNvPr id="7" name="Image 1" descr="/home/user/WerkstattKalender/doku/vorstellung-bta-cockpit/shots/19-regeln-list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188720"/>
            <a:ext cx="4023360" cy="252130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57200" y="3819754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Übersicht anordnen: Kacheln ziehen, ausblenden, tauschen – oder eine Layout-Vorlage (Morgenrunde, Leitstand, Planung, Schlank) wählen. Gilt je Rechner.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663440" y="3819754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Regeln &amp; Listen: Bundesland und freie Tage, Fehlerarten, Abwesenheitsgründe, Gewerk-Namen, Schwellen und Ziele, Textbausteine, Pflichtfelder – für alle Rechner.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EB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BTA-Cockpit · Instandhaltung digital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822960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3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Mehrere Werkstätten – ein Programm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Getrennte Daten, gemeinsame Weiterentwicklung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0624" y="1152144"/>
            <a:ext cx="83027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2000"/>
              </a:srgbClr>
            </a:outerShdw>
          </a:effectLst>
        </p:spPr>
      </p:sp>
      <p:pic>
        <p:nvPicPr>
          <p:cNvPr id="5" name="Image 0" descr="/home/user/WerkstattKalender/doku/vorstellung-bta-cockpit/shots/20-kopfzeile-wechs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8229600" cy="658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1920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Kopfzeile: aktuelle Werkstatt links, daneben der Wechsel-Knopf des Gruppen-Verwalters.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457200" y="2304288"/>
            <a:ext cx="2624328" cy="2313432"/>
          </a:xfrm>
          <a:prstGeom prst="roundRect">
            <a:avLst>
              <a:gd name="adj" fmla="val 395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21792" y="2459736"/>
            <a:ext cx="384048" cy="384048"/>
          </a:xfrm>
          <a:prstGeom prst="ellipse">
            <a:avLst/>
          </a:prstGeom>
          <a:solidFill>
            <a:srgbClr val="2F6690"/>
          </a:solidFill>
          <a:ln w="12700">
            <a:solidFill>
              <a:srgbClr val="2F669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21792" y="24597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≠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115568" y="2459736"/>
            <a:ext cx="18470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3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Eigene Daten je Werkstatt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21792" y="2962656"/>
            <a:ext cx="229514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Team, Anlagen, Prüfpunkte, Störberichte, Schichtplan, Rechte und Regeln liegen je Werkstatt in eigenen Dateien – nichts vermischt sich.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64408" y="2304288"/>
            <a:ext cx="2624328" cy="2313432"/>
          </a:xfrm>
          <a:prstGeom prst="roundRect">
            <a:avLst>
              <a:gd name="adj" fmla="val 395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429000" y="2459736"/>
            <a:ext cx="384048" cy="384048"/>
          </a:xfrm>
          <a:prstGeom prst="ellipse">
            <a:avLst/>
          </a:prstGeom>
          <a:solidFill>
            <a:srgbClr val="C97A2B"/>
          </a:solidFill>
          <a:ln w="12700">
            <a:solidFill>
              <a:srgbClr val="C97A2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429000" y="24597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3922776" y="2459736"/>
            <a:ext cx="18470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3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Gruppen-Verwalter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3429000" y="2962656"/>
            <a:ext cx="229514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Verwalter der Leit-Werkstatt springt frei zwischen den Werkstätten und ist dort Verwalter – ohne in deren Benutzerliste zu stehen.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071616" y="2304288"/>
            <a:ext cx="2624328" cy="2313432"/>
          </a:xfrm>
          <a:prstGeom prst="roundRect">
            <a:avLst>
              <a:gd name="adj" fmla="val 395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236208" y="2459736"/>
            <a:ext cx="384048" cy="384048"/>
          </a:xfrm>
          <a:prstGeom prst="ellipse">
            <a:avLst/>
          </a:prstGeom>
          <a:solidFill>
            <a:srgbClr val="1F7A3D"/>
          </a:solidFill>
          <a:ln w="12700">
            <a:solidFill>
              <a:srgbClr val="1F7A3D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236208" y="24597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729984" y="2459736"/>
            <a:ext cx="18470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3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Programm, alle Updates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236208" y="2962656"/>
            <a:ext cx="229514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 Verbesserung erreicht alle Werkstätten über den grünen Balken. Wünsche aus jeder Werkstatt fließen in dieselbe Roll-out-Liste.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EB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BTA-Cockpit · Instandhaltung digital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822960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3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Gemeinsam nutzen, ohne sich zu überschreiben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Sicherheit in zwei Richtungen: gegen Datenverlust und gegen Abfluss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2621280" cy="1632204"/>
          </a:xfrm>
          <a:prstGeom prst="roundRect">
            <a:avLst>
              <a:gd name="adj" fmla="val 5602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1792" y="1389888"/>
            <a:ext cx="384048" cy="384048"/>
          </a:xfrm>
          <a:prstGeom prst="ellipse">
            <a:avLst/>
          </a:prstGeom>
          <a:solidFill>
            <a:srgbClr val="1F7A3D"/>
          </a:solidFill>
          <a:ln w="12700">
            <a:solidFill>
              <a:srgbClr val="1F7A3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389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115568" y="1344168"/>
            <a:ext cx="179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C3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Eintrag für Eintrag zusammengeführt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1874520"/>
            <a:ext cx="2292096" cy="90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 jedem Speichern wird der Datei-Stand gelesen, danach zurückgeprüft. Fremde Änderungen erscheinen alle 30 Sekunden von selbst.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261360" y="1234440"/>
            <a:ext cx="2621280" cy="1632204"/>
          </a:xfrm>
          <a:prstGeom prst="roundRect">
            <a:avLst>
              <a:gd name="adj" fmla="val 5602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25952" y="1389888"/>
            <a:ext cx="384048" cy="384048"/>
          </a:xfrm>
          <a:prstGeom prst="ellipse">
            <a:avLst/>
          </a:prstGeom>
          <a:solidFill>
            <a:srgbClr val="2F6690"/>
          </a:solidFill>
          <a:ln w="12700">
            <a:solidFill>
              <a:srgbClr val="2F669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5952" y="1389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919728" y="1344168"/>
            <a:ext cx="179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C3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Rechte über das Laufwerk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425952" y="1874520"/>
            <a:ext cx="2292096" cy="90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Ohne Schreibrecht automatisch „nur ansehen“. Dazu die Benutzergruppen in der App mit Rechte-Tabelle je Bereich.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065520" y="1234440"/>
            <a:ext cx="2621280" cy="1632204"/>
          </a:xfrm>
          <a:prstGeom prst="roundRect">
            <a:avLst>
              <a:gd name="adj" fmla="val 5602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30112" y="1389888"/>
            <a:ext cx="384048" cy="384048"/>
          </a:xfrm>
          <a:prstGeom prst="ellipse">
            <a:avLst/>
          </a:prstGeom>
          <a:solidFill>
            <a:srgbClr val="C97A2B"/>
          </a:solidFill>
          <a:ln w="12700">
            <a:solidFill>
              <a:srgbClr val="C97A2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30112" y="1389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723888" y="1344168"/>
            <a:ext cx="179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C3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Sicherungen im Hintergrund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230112" y="1874520"/>
            <a:ext cx="2292096" cy="90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Gerät 30 Stände plus 14 Tages-Stände, täglich eine Kopie in den Datenordner – dort greift die IT-Sicherung.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3031236"/>
            <a:ext cx="2621280" cy="1632204"/>
          </a:xfrm>
          <a:prstGeom prst="roundRect">
            <a:avLst>
              <a:gd name="adj" fmla="val 5602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3186684"/>
            <a:ext cx="384048" cy="384048"/>
          </a:xfrm>
          <a:prstGeom prst="ellipse">
            <a:avLst/>
          </a:prstGeom>
          <a:solidFill>
            <a:srgbClr val="2C3137"/>
          </a:solidFill>
          <a:ln w="12700">
            <a:solidFill>
              <a:srgbClr val="2C313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31866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115568" y="3140964"/>
            <a:ext cx="179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C3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Laufwerk kurz weg?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21792" y="3671316"/>
            <a:ext cx="2292096" cy="90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App speichert lokal weiter, meldet es und gleicht beim nächsten Speichern ab. Eine beschädigte Datei heilt sie selbst.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261360" y="3031236"/>
            <a:ext cx="2621280" cy="1632204"/>
          </a:xfrm>
          <a:prstGeom prst="roundRect">
            <a:avLst>
              <a:gd name="adj" fmla="val 5602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25952" y="3186684"/>
            <a:ext cx="384048" cy="384048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425952" y="31866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3919728" y="3140964"/>
            <a:ext cx="179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C3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Wächter gegen stille Fehler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3425952" y="3671316"/>
            <a:ext cx="2292096" cy="90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 Programmfassung? Rote Leiste. Falsch gehende Uhr? Gemeldet, ohne eine Änderung zu verlieren. Massenlöschung? Notbremse.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065520" y="3031236"/>
            <a:ext cx="2621280" cy="1632204"/>
          </a:xfrm>
          <a:prstGeom prst="roundRect">
            <a:avLst>
              <a:gd name="adj" fmla="val 5602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30112" y="3186684"/>
            <a:ext cx="384048" cy="384048"/>
          </a:xfrm>
          <a:prstGeom prst="ellipse">
            <a:avLst/>
          </a:prstGeom>
          <a:solidFill>
            <a:srgbClr val="1F7A3D"/>
          </a:solidFill>
          <a:ln w="12700">
            <a:solidFill>
              <a:srgbClr val="1F7A3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230112" y="31866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6723888" y="3140964"/>
            <a:ext cx="179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C3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Alles bleibt im Haus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6230112" y="3671316"/>
            <a:ext cx="2292096" cy="90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 Cloud, keine fremden Server: Programm und Daten liegen ausschließlich auf dem Firmenlaufwerk.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EB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BTA-Cockpit · Instandhaltung digital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822960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3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Verlässlichkeit: gemessen, nicht behauptet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Vollständiger Suitenlauf vom 21.09.2026 – vor jeder Auslieferung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1920240" cy="1691640"/>
          </a:xfrm>
          <a:prstGeom prst="roundRect">
            <a:avLst>
              <a:gd name="adj" fmla="val 5405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298448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C3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automatische Härtetests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3774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einem echten Browser gegen die fertige App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560320" y="1234440"/>
            <a:ext cx="1920240" cy="1691640"/>
          </a:xfrm>
          <a:prstGeom prst="roundRect">
            <a:avLst>
              <a:gd name="adj" fmla="val 5405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697480" y="1298448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1.400+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2697480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C3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Einzelprüfungen im Volllauf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23774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vom 21.09.2026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663440" y="1234440"/>
            <a:ext cx="1920240" cy="1691640"/>
          </a:xfrm>
          <a:prstGeom prst="roundRect">
            <a:avLst>
              <a:gd name="adj" fmla="val 5405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00600" y="1298448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71.084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C3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Einträge im Stresstest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800600" y="23774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15 Werkstatt-Jahre in einer Datei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766560" y="1234440"/>
            <a:ext cx="1920240" cy="1691640"/>
          </a:xfrm>
          <a:prstGeom prst="roundRect">
            <a:avLst>
              <a:gd name="adj" fmla="val 5405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903720" y="1298448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3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6903720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C3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bestanden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903720" y="23774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sonst geht keine Version aufs Laufwerk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0632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Geprüfte Grenzfälle: beschädigte Datei (heilt sich selbst) · zwei gleichzeitig offene Fenster · zwei Rechner speichern im selben Augenblick · falsch gehende Uhr, verstellte Zeitzone und der Zeitumstellungs-Tag · volle Speichergrenze · echte Excel-Tabelle · Rechte-Entzug im laufenden Betrieb · Leser kommt nie an Eingaben.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3886200"/>
            <a:ext cx="8229600" cy="731520"/>
          </a:xfrm>
          <a:prstGeom prst="roundRect">
            <a:avLst>
              <a:gd name="adj" fmla="val 125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38862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3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Hausregel: </a:t>
            </a:r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 Änderung am Speichern oder Zusammenführen braucht einen Test, der ohne die Änderung fehlschlägt. Vor jeder Auslieferung läuft die komplette Suite – und was nicht gemessen wurde, wird als ungemessen gekennzeichnet.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EB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BTA-Cockpit · Instandhaltung digital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3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Daten: getestet weit über den Alltag hinaus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Hochrechnung und Gegensteuern – die Datei bleibt klein und schnell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430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VIEL HÄLT ES AUS – DIE MESSFAHRT ALS HOCHRECHNUNG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53619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3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volles Jahr Werkstattbetrieb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8288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4.500 Einträge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33172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240487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3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Stress-Messfahrt (gemessen, 11.09.)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26974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71.084 Einträge · 15 Jahrgänge · 15,2 MB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320040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327355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3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Gemessene Zeiten beim Stress-Bestand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35661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Verbinden 3,1 s · Speichern 6,8 s im Hintergrund · Start 0,6 s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11480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70.000 sind ein Stresstest, kein Betriebszustand. Im Alltag liegt die Datei bei einem Bruchteil – die vier datenreichen Bereiche waren beim Stress-Bestand spürbar zäh und stehen als offener Punkt in der Roll-out-Liste.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663440" y="11430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 SO WIRD GEGENGESTEUERT, LANGE BEVOR ES ENG WIRD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663440" y="1463040"/>
            <a:ext cx="4023360" cy="960120"/>
          </a:xfrm>
          <a:prstGeom prst="roundRect">
            <a:avLst>
              <a:gd name="adj" fmla="val 9524"/>
            </a:avLst>
          </a:prstGeom>
          <a:solidFill>
            <a:srgbClr val="E8F3EC"/>
          </a:solidFill>
          <a:ln w="12700">
            <a:solidFill>
              <a:srgbClr val="E8F3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00600" y="153619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3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Speicher-Warnung und Jahres-Archiv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800600" y="1810512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Nähert sich die Datei der Grenze (rund 5 MB), meldet die App es sichtbar. Das Jahres-Archiv lagert alte Jahrgänge in eigene Dateien aus – die Hauptdatei bleibt klein.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663440" y="2514600"/>
            <a:ext cx="4023360" cy="960120"/>
          </a:xfrm>
          <a:prstGeom prst="roundRect">
            <a:avLst>
              <a:gd name="adj" fmla="val 9524"/>
            </a:avLst>
          </a:prstGeom>
          <a:solidFill>
            <a:srgbClr val="E8F3EC"/>
          </a:solidFill>
          <a:ln w="12700">
            <a:solidFill>
              <a:srgbClr val="E8F3E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00600" y="258775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3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Große Brocken bleiben draußen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800600" y="2862072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Fotos wandern nie in die Datendatei – sie liegen als Bilddateien im Fotos-Ordner daneben. Gelöschtes wird über eine Merkliste sauber ausgetragen.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663440" y="3566160"/>
            <a:ext cx="4023360" cy="960120"/>
          </a:xfrm>
          <a:prstGeom prst="roundRect">
            <a:avLst>
              <a:gd name="adj" fmla="val 9524"/>
            </a:avLst>
          </a:prstGeom>
          <a:solidFill>
            <a:srgbClr val="E8F3EC"/>
          </a:solidFill>
          <a:ln w="12700">
            <a:solidFill>
              <a:srgbClr val="E8F3E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800600" y="363931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3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Daten gehören der Werkstatt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4800600" y="3913632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Lesbarer Klartext (JSON), jederzeit nach Excel/CSV exportierbar – kein Herstellerformat, kein Wechsel-Hindernis.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EB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BTA-Cockpit · Instandhaltung digital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3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hat es gekostet – und was sparen wir?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3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GEKOSTET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0" y="10515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ENTFÄLLT SEITDEM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3657600" cy="804672"/>
          </a:xfrm>
          <a:prstGeom prst="roundRect">
            <a:avLst>
              <a:gd name="adj" fmla="val 11364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371600"/>
            <a:ext cx="1097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0 €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737360" y="1371600"/>
            <a:ext cx="2286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Anschaffung – aus der Werkstatt heraus entwickelt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286000"/>
            <a:ext cx="3657600" cy="804672"/>
          </a:xfrm>
          <a:prstGeom prst="roundRect">
            <a:avLst>
              <a:gd name="adj" fmla="val 11364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2286000"/>
            <a:ext cx="1097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0 €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1737360" y="2286000"/>
            <a:ext cx="2286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laufende Kosten: keine Lizenzen, keine Server, keine Cloud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3200400"/>
            <a:ext cx="3657600" cy="804672"/>
          </a:xfrm>
          <a:prstGeom prst="roundRect">
            <a:avLst>
              <a:gd name="adj" fmla="val 11364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3200400"/>
            <a:ext cx="1097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h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1737360" y="3200400"/>
            <a:ext cx="2286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IT-Aufwand – läuft auf den vorhandenen Rechnern und dem vorhandenen Laufwerk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0" y="1371600"/>
            <a:ext cx="4114800" cy="457200"/>
          </a:xfrm>
          <a:prstGeom prst="roundRect">
            <a:avLst>
              <a:gd name="adj" fmla="val 20000"/>
            </a:avLst>
          </a:prstGeom>
          <a:solidFill>
            <a:srgbClr val="E8F3EC"/>
          </a:solidFill>
          <a:ln w="12700">
            <a:solidFill>
              <a:srgbClr val="E8F3E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9160" y="13716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074920" y="137160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Wartungsplan von Hand fortschreiben und abtippen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0" y="1901952"/>
            <a:ext cx="4114800" cy="457200"/>
          </a:xfrm>
          <a:prstGeom prst="roundRect">
            <a:avLst>
              <a:gd name="adj" fmla="val 20000"/>
            </a:avLst>
          </a:prstGeom>
          <a:solidFill>
            <a:srgbClr val="E8F3EC"/>
          </a:solidFill>
          <a:ln w="12700">
            <a:solidFill>
              <a:srgbClr val="E8F3E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9160" y="190195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074920" y="1901952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Doppelte Pflege: Zettel, Excel-Listen, Aushänge nebeneinander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0" y="2432304"/>
            <a:ext cx="4114800" cy="457200"/>
          </a:xfrm>
          <a:prstGeom prst="roundRect">
            <a:avLst>
              <a:gd name="adj" fmla="val 20000"/>
            </a:avLst>
          </a:prstGeom>
          <a:solidFill>
            <a:srgbClr val="E8F3EC"/>
          </a:solidFill>
          <a:ln w="12700">
            <a:solidFill>
              <a:srgbClr val="E8F3E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709160" y="2432304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074920" y="2432304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Suchen vor Audits – Nachweise entstehen jetzt auf Knopfdruck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0" y="2962656"/>
            <a:ext cx="4114800" cy="457200"/>
          </a:xfrm>
          <a:prstGeom prst="roundRect">
            <a:avLst>
              <a:gd name="adj" fmla="val 20000"/>
            </a:avLst>
          </a:prstGeom>
          <a:solidFill>
            <a:srgbClr val="E8F3EC"/>
          </a:solidFill>
          <a:ln w="12700">
            <a:solidFill>
              <a:srgbClr val="E8F3E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09160" y="2962656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074920" y="2962656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Verlorene Störungs-Infos zwischen den Schichten – und die Rückfragen danach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572000" y="3493008"/>
            <a:ext cx="4114800" cy="457200"/>
          </a:xfrm>
          <a:prstGeom prst="roundRect">
            <a:avLst>
              <a:gd name="adj" fmla="val 20000"/>
            </a:avLst>
          </a:prstGeom>
          <a:solidFill>
            <a:srgbClr val="E8F3EC"/>
          </a:solidFill>
          <a:ln w="12700">
            <a:solidFill>
              <a:srgbClr val="E8F3E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709160" y="3493008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5074920" y="3493008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Wochenplanung und Übergabe aus dem Gedächtnis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eingesparte Zeit steckt jede Woche in Planung, Übergabe und Audit-Vorbereitung – sie bleibt in der Werkstatt.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EB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BTA-Cockpit · Instandhaltung digital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3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 warum nicht einfach kaufen?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ehrlicher Vergleich – beide Wege haben Licht und Schatten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887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BTA-COCKPIT (EIGENBAU)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11887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GEKAUFTE INSTANDHALTUNGS-SOFTWARE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508760"/>
            <a:ext cx="274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508760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 Anschaffung, keine Lizenzen, kein Server – 0 € im Jahr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965960"/>
            <a:ext cx="274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1965960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Exakt auf die Abläufe der Werkstatt zugeschnitten – nichts Überflüssiges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423160"/>
            <a:ext cx="274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423160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Wünsche sind in Tagen umgesetzt, nicht im nächsten Jahres-Release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880360"/>
            <a:ext cx="274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2880360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 als lesbarer Klartext im Haus – jederzeit exportierbar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337560"/>
            <a:ext cx="274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337560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Hersteller-Support – Pflege und Weiterentwicklung liegen bei uns (Übergabe-Plan in der Roll-out-Liste)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794760"/>
            <a:ext cx="274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3794760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 noch unsigniert – der SmartScreen-Hinweis bleibt, bis die IT signiert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4663440" y="1508760"/>
            <a:ext cx="274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937760" y="1508760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Hersteller-Support, Schulungen, garantierte Updates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4663440" y="1965960"/>
            <a:ext cx="274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937760" y="1965960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Großer Funktionsumfang ab Tag 1 (Lager, Einkauf, Mobile-Apps)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4663440" y="2423160"/>
            <a:ext cx="274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937760" y="2423160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Verantwortung für Betrieb und Sicherheit liegt beim Anbieter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4663440" y="2880360"/>
            <a:ext cx="274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937760" y="2880360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Lizenz- und Wartungskosten – jedes Jahr, oft je Benutzer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4663440" y="3337560"/>
            <a:ext cx="274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4937760" y="3337560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Einführung als IT-Projekt: Server, Schnittstellen, Monate Vorlauf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4663440" y="3794760"/>
            <a:ext cx="274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4937760" y="3794760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Abläufe müssen sich der Software anpassen – Sonderwünsche kosten extra; Daten oft in Cloud oder Herstellerformat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2976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Für die Größe und die Abläufe unserer Werkstätten rechnet sich der Eigenbau – und der Wechsel bliebe jederzeit möglich, weil die Daten uns gehören.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EB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BTA-Cockpit · Instandhaltung digital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822960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3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kommt noch – und was ist möglich?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VORGEMERKT (besprochen, wird gebaut)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663440" y="1051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MÖGLICH, WENN GEWÜNSCHT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4023360" cy="640080"/>
          </a:xfrm>
          <a:prstGeom prst="roundRect">
            <a:avLst>
              <a:gd name="adj" fmla="val 14286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371600"/>
            <a:ext cx="73152" cy="640080"/>
          </a:xfrm>
          <a:prstGeom prst="rect">
            <a:avLst/>
          </a:prstGeom>
          <a:solidFill>
            <a:srgbClr val="C97A2B"/>
          </a:solidFill>
          <a:ln w="12700">
            <a:solidFill>
              <a:srgbClr val="C97A2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42646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3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GitHub-Release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1700784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einziger Download-Knopf für Programm und Startpaket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2103120"/>
            <a:ext cx="4023360" cy="640080"/>
          </a:xfrm>
          <a:prstGeom prst="roundRect">
            <a:avLst>
              <a:gd name="adj" fmla="val 14286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2103120"/>
            <a:ext cx="73152" cy="640080"/>
          </a:xfrm>
          <a:prstGeom prst="rect">
            <a:avLst/>
          </a:prstGeom>
          <a:solidFill>
            <a:srgbClr val="C97A2B"/>
          </a:solidFill>
          <a:ln w="12700">
            <a:solidFill>
              <a:srgbClr val="C97A2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" y="215798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3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Signierte EXE mit der IT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2432304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SmartScreen-Hinweis mehr beim ersten Start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57200" y="2834640"/>
            <a:ext cx="4023360" cy="640080"/>
          </a:xfrm>
          <a:prstGeom prst="roundRect">
            <a:avLst>
              <a:gd name="adj" fmla="val 14286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2834640"/>
            <a:ext cx="73152" cy="640080"/>
          </a:xfrm>
          <a:prstGeom prst="rect">
            <a:avLst/>
          </a:prstGeom>
          <a:solidFill>
            <a:srgbClr val="C97A2B"/>
          </a:solidFill>
          <a:ln w="12700">
            <a:solidFill>
              <a:srgbClr val="C97A2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288950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3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Papierkorb „Kürzlich gelöscht“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3163824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versehentlich Gelöschtes selbst zurückholen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57200" y="3566160"/>
            <a:ext cx="4023360" cy="640080"/>
          </a:xfrm>
          <a:prstGeom prst="roundRect">
            <a:avLst>
              <a:gd name="adj" fmla="val 14286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566160"/>
            <a:ext cx="73152" cy="640080"/>
          </a:xfrm>
          <a:prstGeom prst="rect">
            <a:avLst/>
          </a:prstGeom>
          <a:solidFill>
            <a:srgbClr val="C97A2B"/>
          </a:solidFill>
          <a:ln w="12700">
            <a:solidFill>
              <a:srgbClr val="C97A2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362102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3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Ersatzteil-Übersicht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3895344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Bestände und Bestell-Liste – die Nachbestell-Markierung aus den Störberichten ist der Anfang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663440" y="1371600"/>
            <a:ext cx="4023360" cy="640080"/>
          </a:xfrm>
          <a:prstGeom prst="roundRect">
            <a:avLst>
              <a:gd name="adj" fmla="val 14286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663440" y="1371600"/>
            <a:ext cx="73152" cy="640080"/>
          </a:xfrm>
          <a:prstGeom prst="rect">
            <a:avLst/>
          </a:prstGeom>
          <a:solidFill>
            <a:srgbClr val="2F6690"/>
          </a:solidFill>
          <a:ln w="12700">
            <a:solidFill>
              <a:srgbClr val="2F669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864608" y="142646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3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Weitere Abteilungen als Leser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864608" y="1700784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Betriebsleitung, Produktion &amp; Co. schauen live mit – ohne Mehraufwand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663440" y="2103120"/>
            <a:ext cx="4023360" cy="640080"/>
          </a:xfrm>
          <a:prstGeom prst="roundRect">
            <a:avLst>
              <a:gd name="adj" fmla="val 14286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63440" y="2103120"/>
            <a:ext cx="73152" cy="640080"/>
          </a:xfrm>
          <a:prstGeom prst="rect">
            <a:avLst/>
          </a:prstGeom>
          <a:solidFill>
            <a:srgbClr val="2F6690"/>
          </a:solidFill>
          <a:ln w="12700">
            <a:solidFill>
              <a:srgbClr val="2F669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864608" y="215798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3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Zuständige Person am Störbericht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4864608" y="2432304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Restarbeiten erscheinen dann direkt beim Kollegen in der Tagesliste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663440" y="2834640"/>
            <a:ext cx="4023360" cy="640080"/>
          </a:xfrm>
          <a:prstGeom prst="roundRect">
            <a:avLst>
              <a:gd name="adj" fmla="val 14286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663440" y="2834640"/>
            <a:ext cx="73152" cy="640080"/>
          </a:xfrm>
          <a:prstGeom prst="rect">
            <a:avLst/>
          </a:prstGeom>
          <a:solidFill>
            <a:srgbClr val="2F6690"/>
          </a:solidFill>
          <a:ln w="12700">
            <a:solidFill>
              <a:srgbClr val="2F669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864608" y="288950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3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Monitor-Umlauf und Prioritätsstufen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4864608" y="3163824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 Zuruf – die Bausteine sind da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663440" y="3566160"/>
            <a:ext cx="4023360" cy="640080"/>
          </a:xfrm>
          <a:prstGeom prst="roundRect">
            <a:avLst>
              <a:gd name="adj" fmla="val 14286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63440" y="3566160"/>
            <a:ext cx="73152" cy="640080"/>
          </a:xfrm>
          <a:prstGeom prst="rect">
            <a:avLst/>
          </a:prstGeom>
          <a:solidFill>
            <a:srgbClr val="2F6690"/>
          </a:solidFill>
          <a:ln w="12700">
            <a:solidFill>
              <a:srgbClr val="2F669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864608" y="362102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3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Weitere Werkstätten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4864608" y="3895344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neuer Standort ist ein neuer Datenordner – das Programm bleibt dasselbe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Wünsche aus Werkstatt und Führungskreis wandern in die Roll-out-Liste – dort wird entschieden, was als Nächstes kommt.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EB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BTA-Cockpit · Instandhaltung digital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822960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3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neuer Arbeitsplatz: drei Schritte, keine IT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Vom Laufwerk oder vom USB-Startpaket – ohne Adminrechte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463040" y="1325880"/>
            <a:ext cx="640080" cy="640080"/>
          </a:xfrm>
          <a:prstGeom prst="ellipse">
            <a:avLst/>
          </a:prstGeom>
          <a:solidFill>
            <a:srgbClr val="C97A2B"/>
          </a:solidFill>
          <a:ln w="12700">
            <a:solidFill>
              <a:srgbClr val="C97A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63040" y="1325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2240280" y="1645920"/>
            <a:ext cx="1463040" cy="0"/>
          </a:xfrm>
          <a:prstGeom prst="line">
            <a:avLst/>
          </a:prstGeom>
          <a:noFill/>
          <a:ln w="19050">
            <a:solidFill>
              <a:srgbClr val="D5D9D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103120"/>
            <a:ext cx="262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C3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Programm-Ordner kopieren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514600"/>
            <a:ext cx="24414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fertige Master-Kopie liegt auf dem Laufwerk (oder auf dem USB-Stick) – einfach auf den Rechner kopieren, z. B. auf den Desktop.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270248" y="1325880"/>
            <a:ext cx="640080" cy="640080"/>
          </a:xfrm>
          <a:prstGeom prst="ellipse">
            <a:avLst/>
          </a:prstGeom>
          <a:solidFill>
            <a:srgbClr val="2C3137"/>
          </a:solidFill>
          <a:ln w="12700">
            <a:solidFill>
              <a:srgbClr val="2C313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270248" y="1325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047488" y="1645920"/>
            <a:ext cx="1463040" cy="0"/>
          </a:xfrm>
          <a:prstGeom prst="line">
            <a:avLst/>
          </a:prstGeom>
          <a:noFill/>
          <a:ln w="19050">
            <a:solidFill>
              <a:srgbClr val="D5D9D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64408" y="2103120"/>
            <a:ext cx="262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C3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BTA-Cockpit starten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3355848" y="2514600"/>
            <a:ext cx="24414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Beim allerersten Start einmal die Windows-Nachfrage bestätigen. Werkstatt wählen, Datei-Verbindung sitzt dank Vorbelegung von selbst.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077456" y="1325880"/>
            <a:ext cx="640080" cy="640080"/>
          </a:xfrm>
          <a:prstGeom prst="ellipse">
            <a:avLst/>
          </a:prstGeom>
          <a:solidFill>
            <a:srgbClr val="2C3137"/>
          </a:solidFill>
          <a:ln w="12700">
            <a:solidFill>
              <a:srgbClr val="2C313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077456" y="1325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6071616" y="2103120"/>
            <a:ext cx="262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C3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Arbeiten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6163056" y="2514600"/>
            <a:ext cx="24414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 dann: Doppelklick, App geht auf, Stand ist aktuell. Neue Versionen meldet der grüne Balken – ein Klick genügt.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393192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39319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Aufwand je Arbeitsplatz: wenige Minuten, ohne Adminrechte-Installation. Die bebilderte Aufsetz-Anleitung (PDF) liegt bei – für Bearbeiter- wie Leser-Rechner.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EB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BTA-Cockpit · Instandhaltung digital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4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C3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82296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Programm. Eine Datei je Werkstatt.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Alles nachweisbar.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37744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CC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Rundgang in der App – 15 Minuten am echten System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74320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CC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Lesezugang für Betriebsleitung und Nachbarabteilungen ist sofort möglich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1089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CC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Fragen &amp; Wünsche fließen in die Roll-out-Liste ein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3611880"/>
            <a:ext cx="26517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0" descr="/home/user/WerkstattKalender/doku/logos/scheurich-group-haupt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3776472"/>
            <a:ext cx="2377440" cy="5943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3474720" y="3611880"/>
            <a:ext cx="13716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9" name="Image 1" descr="/home/user/WerkstattKalender/doku/logos/soendgen-kerami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5888" y="3675888"/>
            <a:ext cx="969264" cy="69494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120640" y="38404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R. Ciraci · Werkstattleiter BTA</a:t>
            </a:r>
            <a:endParaRPr lang="en-US" sz="125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BTA-Cockpit · Instandhaltung digital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822960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BTA-Cockpit – Hauptpräsentation</dc:title>
  <dc:subject>PptxGenJS Presentation</dc:subject>
  <dc:creator>R. Ciraci</dc:creator>
  <cp:lastModifiedBy>R. Ciraci</cp:lastModifiedBy>
  <cp:revision>1</cp:revision>
  <dcterms:created xsi:type="dcterms:W3CDTF">2026-09-21T13:22:38Z</dcterms:created>
  <dcterms:modified xsi:type="dcterms:W3CDTF">2026-09-21T13:22:38Z</dcterms:modified>
</cp:coreProperties>
</file>