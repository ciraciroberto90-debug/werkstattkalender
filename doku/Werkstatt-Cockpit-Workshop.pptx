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Diese Präsentation ist eine Einführung für alle – niemand muss etwas vorwissen. Ein Satz, worum es geht: Wir haben unsere gesamte Werkstatt-Organisation – Schichtplan, Schichtbuch, Wartung, OEE – in ein eigenes Programm gebracht. Seit Juli produktiv, komplett ohne OneDrive. Heute: 15-20 Minuten zeigen, was es kann, danach Live-Rundgang und offene Runde.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die alte Welt beschreiben – jeder im Raum kennt sie: Papier-Schichtbuch, Excel, Zettel. Der Kernsatz: Es gab keinen Ort, an dem alles steht. Rechts die Antwort in einem Satz.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die Nicht-Techniker: Es gibt keinen Server und keine Cloud. Jeder PC hat das Programm, alle arbeiten auf EINER Datei auf unserem Laufwerk. Die Software sorgt dafür, dass sich niemand gegenseitig überschreibt. Updates = eine Datei in einen Ordner legen.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sieht jeder beim Öffnen: fällige Wartungen, wer da ist, die OEE, die Pinnwand. Alles klickbar. Dieses Bild ist ein Beispiel-Datensatz, keine echten Namen von heute.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der Schichtplan als Monatsmatrix – Feiertage automatisch rot, hier Fronleichnam. Rechts die Wochenplanung: pro Tag, pro Person, der Wartungsplan wird automatisch eingeblendet. Beides druckt fertige Aushänge.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Herzstück im Alltag: das digitale Schichtbuch. Jede Störung bekommt eine Nummer, Ausfallzeit, Ursache, Ersatzteile. Der Unterschied zum Papier: Suchen. 'Was war letztes Mal am Hydraulikaggregat der TS480?' – zwei Sekunden.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Wartung und gesetzliche Prüfungen: Die Termine rechnen sich aus dem Rhythmus, nicht aus dem, was jemand einträgt – der Nachweis kann also nicht schummeln. Der Jahres-Prüfnachweis kommt auf Knopfdruck als druckfertiges Blatt.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OEE-Zahl kommt aus genau der Excel-Auswertung, die die Fertigung sowieso pflegt. Die App liest nur – niemals schreiben, das ist eingebaut und getestet. Klick auf die Kachel: Monats- und Jahresverlauf.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Rechte in drei Rollen. Wichtige Frage aus der Praxis: Was ist, wenn ich nicht da bin? Antwort: Die Vertretung ist gleichberechtigter Verwalter und kann alles – Benutzer anlegen, Rechte ändern, Einstellungen. Das Programm läuft ohne mich unbegrenzt weiter, es gibt keinen Server und nichts, was abläuft. Ehrlich dazugesagt: Die Rollen sind eine Leitplanke gegen Versehen – echtes Sperren machen die Laufwerksrechte der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Frage hinter dieser Folie: Kann etwas verlorengehen? Links die eingebauten Sicherungen beim ganz normalen Arbeiten. Rechts das, was wir absichtlich kaputt gemacht haben, um es zu testen – kaputte Datei, falsche Uhr, zwei Fenster, volles Laufwerk, Verbindungsabriss mitten im Speichern. In keinem Fall ging etwas verloren, und diese Tests laufen bei jeder neuen Programmversion automatisch wieder.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Punkt, der selbstgebaute Software von Bastelei unterscheidet: Vor jeder Auslieferung laufen 41 Testreihen mit rund 700 Prüfungen automatisch durch. Erst wenn alle grün sind, wird eine neue Fassung verteilt. Jede Zahl ist im Projekt nachvollziehbar dokumentiert.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 Das Programm hat rund 1 225 € gekostet – 50 Stunden Eigenleistung zu 24,50 €/h, keine Lizenzkosten. Rechts die Ersparnis, aufgeschlüsselt: Eine Kauf-Software würde jedes Jahr rund 4 200 € Lizenz kosten (bewusst das untere Marktende angesetzt, Marktpreise 20-100 €/Nutzer/Monat) und im ersten Jahr zusätzlich rund 8 000 € Einführung. Dazu der Zeitgewinn - der ist eine Annahme und wird nach drei Monaten mit echten Zahlen nachgemessen. Jahr 1 also rund 20 000 €, danach rund 12 000 € jedes Jahr.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Abschluss: die nächsten Schritte, Quellen für alle Zahlen. Zum Schwesterwerk: Wenn dort Interesse besteht, bekommt es eine eigene, unabhängige Ausgabe - eigene Datendatei auf dem dortigen Laufwerk, eigene Anlagen, eigenes Team, alles über das Zahnrad-Menü einstellbar. Kein Verbund, keine gegenseitige Abhängigkeit. Dann Überleitung in den Live-Teil: das Programm selbst zeigen und Fragen sammeln.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WERKSTATT-COCKPIT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Planung, Schichtbuch und Instandhaltung der Werkstatt – in einem Programm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Einführung für alle · 26.08.2026 · R. Ciraci, Werkstattleitung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2C3137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956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 2026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Einsatz seit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4846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2C3137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4956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+ Leitung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749040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Arbeitsplätze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4846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2C3137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4956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92240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Lizenzkosten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ÜBERHAUPT?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Vorher: vier Orte, keine gemeinsame Wahrheit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212080" cy="841248"/>
          </a:xfrm>
          <a:prstGeom prst="roundRect">
            <a:avLst>
              <a:gd name="adj" fmla="val 6522"/>
            </a:avLst>
          </a:prstGeom>
          <a:solidFill>
            <a:srgbClr val="F5F6F7"/>
          </a:solidFill>
          <a:ln w="12700">
            <a:solidFill>
              <a:srgbClr val="E2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Papier-Schichtbuch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51560" y="218541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Störungen handschriftlich – schwer lesbar, nichts wiederzufinden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752344"/>
            <a:ext cx="5212080" cy="841248"/>
          </a:xfrm>
          <a:prstGeom prst="roundRect">
            <a:avLst>
              <a:gd name="adj" fmla="val 6522"/>
            </a:avLst>
          </a:prstGeom>
          <a:solidFill>
            <a:srgbClr val="F5F6F7"/>
          </a:solidFill>
          <a:ln w="12700">
            <a:solidFill>
              <a:srgbClr val="E2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8437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Excel-Listen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315468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Schichtplan und Planung in getrennten Dateien, jeder mit eigener Kopie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721608"/>
            <a:ext cx="5212080" cy="841248"/>
          </a:xfrm>
          <a:prstGeom prst="roundRect">
            <a:avLst>
              <a:gd name="adj" fmla="val 6522"/>
            </a:avLst>
          </a:prstGeom>
          <a:solidFill>
            <a:srgbClr val="F5F6F7"/>
          </a:solidFill>
          <a:ln w="12700">
            <a:solidFill>
              <a:srgbClr val="E2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813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Zettel &amp; Zuruf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51560" y="41239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Übergaben zwischen den Schichten gingen verloren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690872"/>
            <a:ext cx="5212080" cy="841248"/>
          </a:xfrm>
          <a:prstGeom prst="roundRect">
            <a:avLst>
              <a:gd name="adj" fmla="val 6522"/>
            </a:avLst>
          </a:prstGeom>
          <a:solidFill>
            <a:srgbClr val="F5F6F7"/>
          </a:solidFill>
          <a:ln w="12700">
            <a:solidFill>
              <a:srgbClr val="E2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7823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OneDrive-Ordner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51560" y="50932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Sync-Verzug und Konfliktkopien beim gleichzeitigen Arbeiten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1783080"/>
            <a:ext cx="4846320" cy="3931920"/>
          </a:xfrm>
          <a:prstGeom prst="roundRect">
            <a:avLst>
              <a:gd name="adj" fmla="val 1860"/>
            </a:avLst>
          </a:prstGeom>
          <a:solidFill>
            <a:srgbClr val="22262B"/>
          </a:solidFill>
          <a:ln/>
          <a:effectLst>
            <a:outerShdw sx="100000" sy="100000" kx="0" ky="0" algn="bl" rotWithShape="0" blurRad="101600" dist="38100" dir="5400000">
              <a:srgbClr val="3A3F45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251460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Programm. Eine gemeinsame Datei.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sehen denselben Stand – Änderungen erscheinen bei den Kollegen von selbst.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Schichtbuch, der Plan und die Wartung sind an einem Ort – und jeder Eintrag ist in Sekunden wiedergefunden.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 IN EINEM BILD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Server, keine Cloud – eine Datei im Firmennetz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901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554480" y="22311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Werkstattbüro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86200" y="2263140"/>
            <a:ext cx="2743200" cy="1028700"/>
          </a:xfrm>
          <a:prstGeom prst="line">
            <a:avLst/>
          </a:prstGeom>
          <a:noFill/>
          <a:ln w="19050">
            <a:solidFill>
              <a:srgbClr val="8A9099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71600" y="283464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907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554480" y="32369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Meisterbüro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3268980"/>
            <a:ext cx="2743200" cy="22860"/>
          </a:xfrm>
          <a:prstGeom prst="line">
            <a:avLst/>
          </a:prstGeom>
          <a:noFill/>
          <a:ln w="19050">
            <a:solidFill>
              <a:srgbClr val="8A9099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371600" y="384048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9136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42428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Hallenbildschirm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V="1">
            <a:off x="3886200" y="3291840"/>
            <a:ext cx="2743200" cy="982980"/>
          </a:xfrm>
          <a:prstGeom prst="line">
            <a:avLst/>
          </a:prstGeom>
          <a:noFill/>
          <a:ln w="19050">
            <a:solidFill>
              <a:srgbClr val="8A9099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66560" y="251460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22262B"/>
          </a:solidFill>
          <a:ln/>
          <a:effectLst>
            <a:outerShdw sx="100000" sy="100000" kx="0" ky="0" algn="bl" rotWithShape="0" blurRad="101600" dist="38100" dir="5400000">
              <a:srgbClr val="3A3F45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Firmenlaufwerk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gemeinsame Datendatei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die OEE-Excel der Fertigung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Rechner hat das Programm – geöffnet wird immer dieselbe Datei auf dem Laufwerk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Änderungen werden Eintrag für Eintrag zusammengeführt – niemand überschreibt den anderen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Programmversionen: eine Datei in den Netzwerkordner legen, alle Rechner übernehmen sie von selbst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Daten verlassen das Haus nie – keine Cloud, kein Anbieter, keine Abhängigkeit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Übersicht: der Werkstatt-Morgen auf einen Blick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8096" y="1865376"/>
            <a:ext cx="7699248" cy="3145536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6D9DC"/>
            </a:solidFill>
            <a:prstDash val="solid"/>
          </a:ln>
          <a:effectLst>
            <a:outerShdw sx="100000" sy="100000" kx="0" ky="0" algn="bl" rotWithShape="0" blurRad="101600" dist="38100" dir="5400000">
              <a:srgbClr val="3A3F45">
                <a:alpha val="35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ws-uebersicht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7589520" cy="3035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32520" y="1920240"/>
            <a:ext cx="2834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heute fällig, was blieb liegen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ist gerade da – je Schicht, live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des Betriebs, direkt aus der Excel der Fertigung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Pinnwand für Übergaben – farblich je Verfasser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Schichtplan und Arbeitsplanung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8096" y="2093976"/>
            <a:ext cx="559612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D9DC"/>
            </a:solidFill>
            <a:prstDash val="solid"/>
          </a:ln>
          <a:effectLst>
            <a:outerShdw sx="100000" sy="100000" kx="0" ky="0" algn="bl" rotWithShape="0" blurRad="101600" dist="38100" dir="5400000">
              <a:srgbClr val="3A3F45">
                <a:alpha val="35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vorschau-schichtpla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5486400" cy="1444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83096" y="1591056"/>
            <a:ext cx="4956048" cy="3136392"/>
          </a:xfrm>
          <a:prstGeom prst="roundRect">
            <a:avLst>
              <a:gd name="adj" fmla="val 1749"/>
            </a:avLst>
          </a:prstGeom>
          <a:solidFill>
            <a:srgbClr val="FFFFFF"/>
          </a:solidFill>
          <a:ln w="12700">
            <a:solidFill>
              <a:srgbClr val="D6D9DC"/>
            </a:solidFill>
            <a:prstDash val="solid"/>
          </a:ln>
          <a:effectLst>
            <a:outerShdw sx="100000" sy="100000" kx="0" ky="0" algn="bl" rotWithShape="0" blurRad="101600" dist="38100" dir="5400000">
              <a:srgbClr val="3A3F45">
                <a:alpha val="35000"/>
              </a:srgbClr>
            </a:outerShdw>
          </a:effectLst>
        </p:spPr>
      </p:sp>
      <p:pic>
        <p:nvPicPr>
          <p:cNvPr id="7" name="Image 1" descr="/tmp/claude-0/-home-user-WerkstattKalender/8b2eab4a-3225-51dd-900c-dbf3d21c0a06/scratchpad/vorschau-planu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45920"/>
            <a:ext cx="4846320" cy="3026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840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Monatsmatrix – ein Klick je Zelle, Feiertage (Bayern) automatisch markiert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537960" y="4892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Wochenplanung je Tag und Person – Wartungsplan läuft automatisch mit, Aushang-Druck je KW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Schichtbuch: Störberichte statt Papier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8096" y="1865376"/>
            <a:ext cx="7699248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6D9DC"/>
            </a:solidFill>
            <a:prstDash val="solid"/>
          </a:ln>
          <a:effectLst>
            <a:outerShdw sx="100000" sy="100000" kx="0" ky="0" algn="bl" rotWithShape="0" blurRad="101600" dist="38100" dir="5400000">
              <a:srgbClr val="3A3F45">
                <a:alpha val="35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ws-stoerunge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7589520" cy="2843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32520" y="1828800"/>
            <a:ext cx="2834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Störung mit Nummer, Schicht, Anlage, Ursache, Ausfallzeit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Volltextsuche und Historie je Anlage – nichts geht mehr verloren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Ausfallzeiten, Häufungen, Mechanik/Elektrik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Einzelbericht als A4-Ausdruck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Melden darf jeder – auch ohne Schreibrecht auf den Rest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Wartung &amp; Inspektion mit fertigem Prüfnachweis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8096" y="1682496"/>
            <a:ext cx="7699248" cy="3813048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D6D9DC"/>
            </a:solidFill>
            <a:prstDash val="solid"/>
          </a:ln>
          <a:effectLst>
            <a:outerShdw sx="100000" sy="100000" kx="0" ky="0" algn="bl" rotWithShape="0" blurRad="101600" dist="38100" dir="5400000">
              <a:srgbClr val="3A3F45">
                <a:alpha val="35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ws-tpm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758952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32520" y="1920240"/>
            <a:ext cx="2834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Wiederkehrende Wartungen und R+I-Punkte mit eigener Terminlogik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Rhythmen überspringen Feiertage und Wochenenden automatisch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Prüfpunkt: Info, Rechtsgrundlage, Link – Nachschlagewerk inklusive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Jahres-Prüfnachweis auf Knopfdruck – vorzeigefertig gedruckt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live – aus der Excel, die es schon gibt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25296" y="1591056"/>
            <a:ext cx="4956048" cy="4818888"/>
          </a:xfrm>
          <a:prstGeom prst="roundRect">
            <a:avLst>
              <a:gd name="adj" fmla="val 1139"/>
            </a:avLst>
          </a:prstGeom>
          <a:solidFill>
            <a:srgbClr val="FFFFFF"/>
          </a:solidFill>
          <a:ln w="12700">
            <a:solidFill>
              <a:srgbClr val="D6D9DC"/>
            </a:solidFill>
            <a:prstDash val="solid"/>
          </a:ln>
          <a:effectLst>
            <a:outerShdw sx="100000" sy="100000" kx="0" ky="0" algn="bl" rotWithShape="0" blurRad="101600" dist="38100" dir="5400000">
              <a:srgbClr val="3A3F45">
                <a:alpha val="35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ws-oee-pop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45920"/>
            <a:ext cx="4846320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0" y="2103120"/>
            <a:ext cx="4663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Liest die bestehende OEE-Auswertung der Fertigung direkt vom Laufwerk – keine Doppel-Erfassung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Minute aktuell; in die Excel wird grundsätzlich NIE geschrieben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Klick auf die Kachel: Monats- und Jahresverlauf als Kurve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Nachgewiesen an der echten Pivot-Tabelle der Fertigung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ZUGRIFF &amp; SICHERHEIT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Benutzerrollen – und Daten, die im Haus bleiben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06056" y="1682496"/>
            <a:ext cx="3310128" cy="3072384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6D9DC"/>
            </a:solidFill>
            <a:prstDash val="solid"/>
          </a:ln>
          <a:effectLst>
            <a:outerShdw sx="100000" sy="100000" kx="0" ky="0" algn="bl" rotWithShape="0" blurRad="101600" dist="38100" dir="5400000">
              <a:srgbClr val="3A3F45">
                <a:alpha val="35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benutzer-anmeldung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737360"/>
            <a:ext cx="3200400" cy="2962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0920" y="48646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 beim ersten Start – das Gerät merkt sich die Wahl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12700">
            <a:solidFill>
              <a:srgbClr val="E2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18653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Verwalter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51560" y="2185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+ Benutzer pflegen – Leitung UND Vertretung, gleichberechtigt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274320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12700">
            <a:solidFill>
              <a:srgbClr val="E2E4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8254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Bearbeiter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51560" y="31455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eintragen und ändern – die tägliche Arbeit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370332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12700">
            <a:solidFill>
              <a:srgbClr val="E2E4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37856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Leser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051560" y="41056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ansehen; sieht z. B. nur veröffentlichte Aushänge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489204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Anmeldung: grundsätzlich nur ansehen.  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wenn die Leitung nicht im Haus ist oder länger ausfällt? Die Vertretung ist Verwalter mit denselben Rechten – Benutzer, Rechte und Einstellungen pflegt sie genauso. Nichts hängt an einer Person: Programm und Daten liegen im Firmennetz.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DATENSICHERHEIT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passiert mit unseren Daten?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wird gespeichert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Änderungen werden Eintrag für Eintrag zusammengeführt – niemand überschreibt den anderen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jedem Speichern wird die Datei zurückgelesen und geprüft: Ist noch alles da?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Gerät legt beim Öffnen automatisch eine Sicherung an (14 Tage zurück) – dazu die tägliche Server-Sicherung der IT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Löschungen laufen über eine 180-Tage-Merkliste – nichts verschwindet unbemerkt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2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Absichtlich kaputt gemacht – und geprüft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0" y="22402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Beschädigte, halb geschriebene Datendatei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 gehende Rechneruhr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Fenster gleichzeitig auf derselben Datei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 Speichergrenze des Browsers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Laufwerk mitten im Speichern nicht erreichbar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Rechte-Entzug, während jemand gerade arbeitet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Dauertest: 16 951 Einträge aus sieben Jahrgängen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EAF3EC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406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 In keinem dieser Fälle ging ein Eintrag verloren – und jede dieser Prüfungen läuft seither vor jeder Auslieferung automatisch mit.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QUALITÄT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Gemessen, nicht behauptet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2C3137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848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17520" y="2148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Testsuiten – laufen vor jeder Auslieferung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2C3137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848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412480" y="2148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Einzelprüfungen, Stand 10.08.: alle fehlerfrei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2C3137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7764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017520" y="3840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Prüfungen zusätzlich am echten installierten Programm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2C3137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7764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16 951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12480" y="3840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Einträge im Dauertest – sieben Jahrgänge Betriebsdaten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623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Prüfungen laufen automatisch vor jeder Auslieferung – nichts wird von Hand „freigeklickt“. Jede Zahl ist im Projekt nachvollziehbar dokumentiert (Prüfbericht, README).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es gekostet hat – und was es spart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383280" cy="3977640"/>
          </a:xfrm>
          <a:prstGeom prst="roundRect">
            <a:avLst>
              <a:gd name="adj" fmla="val 2432"/>
            </a:avLst>
          </a:prstGeom>
          <a:solidFill>
            <a:srgbClr val="F5F6F7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3A3F4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BIS HEUTE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1 225 €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50 h Eigenleistung × 24,50 €/h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 Lizenzkosten – jetzt und künftig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Vergleich: extern entwickeln lassen hieße 40–60 Personentage à ≈ 840 € Marktsatz – rund 40 000 € [1].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6858000" cy="3977640"/>
          </a:xfrm>
          <a:prstGeom prst="roundRect">
            <a:avLst>
              <a:gd name="adj" fmla="val 2069"/>
            </a:avLst>
          </a:prstGeom>
          <a:solidFill>
            <a:srgbClr val="F5F6F7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3A3F45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ERSPARNIS – SO GERECHNET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 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78408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Jahr 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060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Kauf-Software vermieden (CMMS)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00600" y="277063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4 200 € Jahreslizenz + 8 000 € Einführung – bewusst das untere Marktende [2][3]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12 000 €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8408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4 200 €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Zeitgewinn im Alltag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00600" y="391363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min je Person und Arbeitstag, 9 Personen, 45 €/h – Annahme, wird nach 3 Monaten nachgemessen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7 500 €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7 500 €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4754880"/>
            <a:ext cx="6355080" cy="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4937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863840" y="4873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20 000 €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64040" y="4873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12 000 €/Jahr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5943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so viel? Weil eine Kauf-Software jedes Jahr Lizenz kostet und im ersten Jahr zusätzlich die Einführung (Datenübernahme, Anpassung, Schulung) fällig wäre – der Zeitgewinn kommt jedes Jahr obendrauf. Vollständige Herleitung mit allen Annahmen: Entscheidungsvorlage für die Geschäftsführung.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geht es weiter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IT: tägliche Sicherung des Datenordners bestätigen, Programm signieren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Vertretung einweisen, Betriebshandbuch für die IT erstellen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3 Monaten: Zeitgewinn mit echten Zahlen nachmessen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Schwesterwerk bei Interesse: eigene, eigenständige Ausgabe – eigene Datendatei, eigene Einstellungen über das Zahnrad-Menü, kein Verbund nötig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freelancermap, „Freelancer-Kompass 2025“ (ca. 6 000 Befragte): Ø 104–105 €/h für IT-Freiberufler ≈ 840 €/Personentag; berichtet u. a. von Computerwoche und heise online (2025).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remberg, „Was bestimmt die Kosten einer CMMS-Lösung?“: Pakete 69–80 €/Nutzer/Monat, Implementierung 50–150 % der Jahreslizenz (remberg.com, abgerufen 10.08.2026).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osapiens „Instandhaltungssoftware Vergleich 2026“ (20–100 €/Nutzer/Monat) und Streit Software „Anbieter 2026 im Vergleich“ (abgerufen 10.08.2026).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 Zahlen (Tests, Umfang, Betrieb): Projekt-Repository – README, Prüfbericht, Roll-out-Liste.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 Danach: Live-Rundgang durch das Programm.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2026-08-10T17:34:06Z</dcterms:created>
  <dcterms:modified xsi:type="dcterms:W3CDTF">2026-08-10T17:34:06Z</dcterms:modified>
</cp:coreProperties>
</file>