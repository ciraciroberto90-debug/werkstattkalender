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charts/chart1.xml" ContentType="application/vnd.openxmlformats-officedocument.drawingml.chart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</p:sldIdLst>
  <p:notesMasterIdLst>
    <p:notesMasterId r:id="rId4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notesMaster" Target="notesMasters/notesMaster1.xml"/><Relationship Id="rId45" Type="http://schemas.openxmlformats.org/officeDocument/2006/relationships/presProps" Target="presProps.xml"/><Relationship Id="rId46" Type="http://schemas.openxmlformats.org/officeDocument/2006/relationships/viewProps" Target="viewProps.xml"/><Relationship Id="rId47" Type="http://schemas.openxmlformats.org/officeDocument/2006/relationships/theme" Target="theme/theme1.xml"/><Relationship Id="rId4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2C3137"/>
                </a:solidFill>
                <a:latin typeface="Calibri"/>
              </a:defRPr>
            </a:pPr>
            <a:r>
              <a:rPr sz="1100" b="0" i="0" u="none" strike="noStrike">
                <a:solidFill>
                  <a:srgbClr val="2C3137"/>
                </a:solidFill>
                <a:latin typeface="Calibri"/>
              </a:rPr>
              <a:t>So verteilt sich der Stress-Bestand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Einträge</c:v>
                </c:pt>
              </c:strCache>
            </c:strRef>
          </c:tx>
          <c:spPr>
            <a:solidFill>
              <a:srgbClr val="C97A2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F243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Schichtplan</c:v>
                  </c:pt>
                  <c:pt idx="1">
                    <c:v>Backlog / Planung</c:v>
                  </c:pt>
                  <c:pt idx="2">
                    <c:v>To-dos</c:v>
                  </c:pt>
                  <c:pt idx="3">
                    <c:v>Zeiterfassung</c:v>
                  </c:pt>
                  <c:pt idx="4">
                    <c:v>Störberichte</c:v>
                  </c:pt>
                  <c:pt idx="5">
                    <c:v>TPM</c:v>
                  </c:pt>
                  <c:pt idx="6">
                    <c:v>R+I</c:v>
                  </c:pt>
                  <c:pt idx="7">
                    <c:v>Pinnwand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31728</c:v>
                </c:pt>
                <c:pt idx="1">
                  <c:v>11654</c:v>
                </c:pt>
                <c:pt idx="2">
                  <c:v>10660</c:v>
                </c:pt>
                <c:pt idx="3">
                  <c:v>10648</c:v>
                </c:pt>
                <c:pt idx="4">
                  <c:v>2704</c:v>
                </c:pt>
                <c:pt idx="5">
                  <c:v>1647</c:v>
                </c:pt>
                <c:pt idx="6">
                  <c:v>1647</c:v>
                </c:pt>
                <c:pt idx="7">
                  <c:v>396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F243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F243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Kein Server, keine Datenbank, keine Installation: Das Programm ist eine HTML-Datei, die Daten liegen als zwei JSON-Dateien auf dem Laufwerk. Wer den Ordner sehen darf, kann das Cockpit nutzen.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Kein Rechner muss einzeln angefasst werden. Der grüne Balken ist derselbe Weg, über den auch Fehlerbehebungen und neue Funktionen kommen.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Die Standort-Trennung ist seit September eingebaut (Werkstatt-Wahl beim ersten Start). Eine neu hinzukommende Werkstatt startet mit einem leeren, eigenen Datenbestand.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Die 70.000 sind ein Stresstest, kein Betriebszustand. Ein echtes Werkstattjahr sind rund 4.500 Einträge; mit gepflegtem Jahresarchiv bleibt die Datei bei 5–8 MB.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Dazu kommen acht weitere Suiten: Sync-Fokus, Smoke-Test, Stress-15-Jahre, Klickrunde, Suchtempo. Alles läuft in einem echten Chromium gegen die fertige HTML – nicht gegen einzelne Funktionen.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Die Bilder sind Vorlagen des Werkzeug-Fensters; das echte Fenster sieht so aus und ist auf Windows durchgetestet (Einrichten, Entfernen, Pfade speichern, Verbindung prüfen).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Zahlen zum Abo und zur Arbeitszeit bei Bedarf mündlich nennen – die Entscheidungsvorlage vom 10.08. enthält die Schätzung (Größenordnung: Abo unter 100 €/Monat).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image" Target="../media/image-4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3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23444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BTA-Cockpit</a:t>
            </a:r>
            <a:endParaRPr lang="en-US" sz="4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1488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7CC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Instandhaltung digital für Scheurich und Soendgen Keramik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6974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A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R. Ciraci, Werkstattleiter BTA Scheurich · Stand September 2026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3611880"/>
            <a:ext cx="26517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6" name="Image 0" descr="/home/user/WerkstattKalender/doku/logos/scheurich-group-haupt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3776472"/>
            <a:ext cx="237744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474720" y="3611880"/>
            <a:ext cx="137160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8" name="Image 1" descr="/home/user/WerkstattKalender/doku/logos/soendgen-kerami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5888" y="3675888"/>
            <a:ext cx="969264" cy="69494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C3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Worüber wir heute sprechen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Sieben Kapitel – mit vielen Bildern aus dem laufenden Betrieb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457200" cy="457200"/>
          </a:xfrm>
          <a:prstGeom prst="ellipse">
            <a:avLst/>
          </a:prstGeom>
          <a:solidFill>
            <a:srgbClr val="C97A2B"/>
          </a:solidFill>
          <a:ln w="12700">
            <a:solidFill>
              <a:srgbClr val="C97A2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123444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C3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Ausgangslage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152704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Warum überhaupt – und was fehlte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148840"/>
            <a:ext cx="457200" cy="457200"/>
          </a:xfrm>
          <a:prstGeom prst="ellipse">
            <a:avLst/>
          </a:prstGeom>
          <a:solidFill>
            <a:srgbClr val="C97A2B"/>
          </a:solidFill>
          <a:ln w="12700">
            <a:solidFill>
              <a:srgbClr val="C97A2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051560" y="210312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C3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Cockpit im Überblick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39572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 Bereiche, so wie sie täglich aussehen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017520"/>
            <a:ext cx="457200" cy="457200"/>
          </a:xfrm>
          <a:prstGeom prst="ellipse">
            <a:avLst/>
          </a:prstGeom>
          <a:solidFill>
            <a:srgbClr val="C97A2B"/>
          </a:solidFill>
          <a:ln w="12700">
            <a:solidFill>
              <a:srgbClr val="C97A2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297180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C3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– bewusst einfach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1051560" y="326440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Dateien statt Server, Rollen, Updates, Standorte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886200"/>
            <a:ext cx="457200" cy="457200"/>
          </a:xfrm>
          <a:prstGeom prst="ellipse">
            <a:avLst/>
          </a:prstGeom>
          <a:solidFill>
            <a:srgbClr val="C97A2B"/>
          </a:solidFill>
          <a:ln w="12700">
            <a:solidFill>
              <a:srgbClr val="C97A2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7200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051560" y="384048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C3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Belastbarkeit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1051560" y="413308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Stresstest mit 71.000 Einträgen, 73 Härtetests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54880" y="1280160"/>
            <a:ext cx="457200" cy="457200"/>
          </a:xfrm>
          <a:prstGeom prst="ellipse">
            <a:avLst/>
          </a:prstGeom>
          <a:solidFill>
            <a:srgbClr val="C97A2B"/>
          </a:solidFill>
          <a:ln w="12700">
            <a:solidFill>
              <a:srgbClr val="C97A2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75488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5349240" y="123444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C3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Einführung in 5 Minuten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5349240" y="152704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Installations-Werkzeug – ohne IT, ohne Admin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54880" y="2148840"/>
            <a:ext cx="457200" cy="457200"/>
          </a:xfrm>
          <a:prstGeom prst="ellipse">
            <a:avLst/>
          </a:prstGeom>
          <a:solidFill>
            <a:srgbClr val="C97A2B"/>
          </a:solidFill>
          <a:ln w="12700">
            <a:solidFill>
              <a:srgbClr val="C97A2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75488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5349240" y="210312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C3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 es entstanden ist</a:t>
            </a:r>
            <a:endParaRPr lang="en-US" sz="1450" dirty="0"/>
          </a:p>
        </p:txBody>
      </p:sp>
      <p:sp>
        <p:nvSpPr>
          <p:cNvPr id="27" name="Text 25"/>
          <p:cNvSpPr txBox="1"/>
          <p:nvPr/>
        </p:nvSpPr>
        <p:spPr>
          <a:xfrm>
            <a:off x="5349240" y="239572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Arbeit mit Claude: Rollen, Regeln, Chat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754880" y="3017520"/>
            <a:ext cx="457200" cy="457200"/>
          </a:xfrm>
          <a:prstGeom prst="ellipse">
            <a:avLst/>
          </a:prstGeom>
          <a:solidFill>
            <a:srgbClr val="C97A2B"/>
          </a:solidFill>
          <a:ln w="12700">
            <a:solidFill>
              <a:srgbClr val="C97A2B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754880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5349240" y="297180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C3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Nutzen für die Werkstatt</a:t>
            </a:r>
            <a:endParaRPr lang="en-US" sz="1450" dirty="0"/>
          </a:p>
        </p:txBody>
      </p:sp>
      <p:sp>
        <p:nvSpPr>
          <p:cNvPr id="31" name="Text 29"/>
          <p:cNvSpPr txBox="1"/>
          <p:nvPr/>
        </p:nvSpPr>
        <p:spPr>
          <a:xfrm>
            <a:off x="5349240" y="326440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eine Werkstatt bekommt, Fahrplan, Grenzen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B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BTA-Cockpit · Instandhaltung digital in der Scheurich Group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822960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C3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600200"/>
            <a:ext cx="1051560" cy="1051560"/>
          </a:xfrm>
          <a:prstGeom prst="ellipse">
            <a:avLst/>
          </a:prstGeom>
          <a:solidFill>
            <a:srgbClr val="C97A2B"/>
          </a:solidFill>
          <a:ln w="12700">
            <a:solidFill>
              <a:srgbClr val="C97A2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160020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2103120" y="1234440"/>
            <a:ext cx="65836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Ausgangslage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2103120" y="278892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7CC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 die Werkstatt vor dem Cockpit gearbeitet hat – und was dabei jeden Tag gefehlt hat.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BTA-Cockpit · Instandhaltung digital in der Scheurich Group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822960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C3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lief es bisher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Drei Werkzeuge, drei Orte, kein gemeinsames Bild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606040" cy="2514600"/>
          </a:xfrm>
          <a:prstGeom prst="roundRect">
            <a:avLst>
              <a:gd name="adj" fmla="val 3636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508760"/>
            <a:ext cx="566928" cy="566928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5087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✎</a:t>
            </a:r>
            <a:endParaRPr lang="en-US" sz="1364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19456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3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Papier-Schichtbuch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542032"/>
            <a:ext cx="2194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Störungen im Heft: nicht durchsuchbar, keine Ausfallzeiten, kein Überblick, was noch offen ist.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291840" y="1280160"/>
            <a:ext cx="2606040" cy="2514600"/>
          </a:xfrm>
          <a:prstGeom prst="roundRect">
            <a:avLst>
              <a:gd name="adj" fmla="val 3636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20440" y="1508760"/>
            <a:ext cx="566928" cy="566928"/>
          </a:xfrm>
          <a:prstGeom prst="ellipse">
            <a:avLst/>
          </a:prstGeom>
          <a:solidFill>
            <a:srgbClr val="1F7A3D"/>
          </a:solidFill>
          <a:ln w="12700">
            <a:solidFill>
              <a:srgbClr val="1F7A3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520440" y="15087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▦</a:t>
            </a:r>
            <a:endParaRPr lang="en-US" sz="1364" dirty="0"/>
          </a:p>
        </p:txBody>
      </p:sp>
      <p:sp>
        <p:nvSpPr>
          <p:cNvPr id="12" name="Text 10"/>
          <p:cNvSpPr txBox="1"/>
          <p:nvPr/>
        </p:nvSpPr>
        <p:spPr>
          <a:xfrm>
            <a:off x="3474720" y="219456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3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&amp; Zuruf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520440" y="2542032"/>
            <a:ext cx="2194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Schichtplan im Excel, Tagesplanung per Zuruf – wer heute da ist und was ansteht, steht nirgends zentral.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126480" y="1280160"/>
            <a:ext cx="2606040" cy="2514600"/>
          </a:xfrm>
          <a:prstGeom prst="roundRect">
            <a:avLst>
              <a:gd name="adj" fmla="val 3636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55080" y="1508760"/>
            <a:ext cx="566928" cy="566928"/>
          </a:xfrm>
          <a:prstGeom prst="ellipse">
            <a:avLst/>
          </a:prstGeom>
          <a:solidFill>
            <a:srgbClr val="2F6690"/>
          </a:solidFill>
          <a:ln w="12700">
            <a:solidFill>
              <a:srgbClr val="2F669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355080" y="15087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64" dirty="0"/>
          </a:p>
        </p:txBody>
      </p:sp>
      <p:sp>
        <p:nvSpPr>
          <p:cNvPr id="17" name="Text 15"/>
          <p:cNvSpPr txBox="1"/>
          <p:nvPr/>
        </p:nvSpPr>
        <p:spPr>
          <a:xfrm>
            <a:off x="6309360" y="219456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3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Nachweise von Hand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355080" y="2542032"/>
            <a:ext cx="2194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Wartungs- und Prüfnachweise (TPM, R+I) auf Zetteln – bei Audit und Übergabe mühsam zusammenzusuchen.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4023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Folge: Wissen im Kopf Einzelner, doppelte Arbeit – und keine belastbaren Zahlen für die Morgenrunde.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B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BTA-Cockpit · Instandhaltung digital in der Scheurich Group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822960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C3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das Cockpit ändert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Dieselben Aufgaben – an einem Ort, für alle sichtbar</a:t>
            </a:r>
            <a:endParaRPr lang="en-US" sz="12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887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Vorher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4480560" y="118872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dem Cockpit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3108960" cy="566928"/>
          </a:xfrm>
          <a:prstGeom prst="roundRect">
            <a:avLst>
              <a:gd name="adj" fmla="val 12903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600200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Heft &amp; Zettel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749040" y="1728216"/>
            <a:ext cx="548640" cy="310896"/>
          </a:xfrm>
          <a:prstGeom prst="rightArrow">
            <a:avLst/>
          </a:prstGeom>
          <a:solidFill>
            <a:srgbClr val="C97A2B"/>
          </a:solidFill>
          <a:ln w="12700">
            <a:solidFill>
              <a:srgbClr val="C97A2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80560" y="1600200"/>
            <a:ext cx="4206240" cy="566928"/>
          </a:xfrm>
          <a:prstGeom prst="roundRect">
            <a:avLst>
              <a:gd name="adj" fmla="val 12903"/>
            </a:avLst>
          </a:prstGeom>
          <a:solidFill>
            <a:srgbClr val="EAF3EC"/>
          </a:solidFill>
          <a:ln w="12700">
            <a:solidFill>
              <a:srgbClr val="EAF3E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63440" y="1600200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Digitales Schichtbuch: Nummer, Suche, Ursache, Ausfallzeit, Ersatzteile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7200" y="2331720"/>
            <a:ext cx="3108960" cy="566928"/>
          </a:xfrm>
          <a:prstGeom prst="roundRect">
            <a:avLst>
              <a:gd name="adj" fmla="val 12903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" y="2331720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Excel-Schichtplan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749040" y="2459736"/>
            <a:ext cx="548640" cy="310896"/>
          </a:xfrm>
          <a:prstGeom prst="rightArrow">
            <a:avLst/>
          </a:prstGeom>
          <a:solidFill>
            <a:srgbClr val="C97A2B"/>
          </a:solidFill>
          <a:ln w="12700">
            <a:solidFill>
              <a:srgbClr val="C97A2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480560" y="2331720"/>
            <a:ext cx="4206240" cy="566928"/>
          </a:xfrm>
          <a:prstGeom prst="roundRect">
            <a:avLst>
              <a:gd name="adj" fmla="val 12903"/>
            </a:avLst>
          </a:prstGeom>
          <a:solidFill>
            <a:srgbClr val="EAF3EC"/>
          </a:solidFill>
          <a:ln w="12700">
            <a:solidFill>
              <a:srgbClr val="EAF3E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663440" y="2331720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Schichtplan und Tagesplanung in einem – Aushang je Woche per Klick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57200" y="3063240"/>
            <a:ext cx="3108960" cy="566928"/>
          </a:xfrm>
          <a:prstGeom prst="roundRect">
            <a:avLst>
              <a:gd name="adj" fmla="val 12903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" y="3063240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Nachweise von Hand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3749040" y="3191256"/>
            <a:ext cx="548640" cy="310896"/>
          </a:xfrm>
          <a:prstGeom prst="rightArrow">
            <a:avLst/>
          </a:prstGeom>
          <a:solidFill>
            <a:srgbClr val="C97A2B"/>
          </a:solidFill>
          <a:ln w="12700">
            <a:solidFill>
              <a:srgbClr val="C97A2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480560" y="3063240"/>
            <a:ext cx="4206240" cy="566928"/>
          </a:xfrm>
          <a:prstGeom prst="roundRect">
            <a:avLst>
              <a:gd name="adj" fmla="val 12903"/>
            </a:avLst>
          </a:prstGeom>
          <a:solidFill>
            <a:srgbClr val="EAF3EC"/>
          </a:solidFill>
          <a:ln w="12700">
            <a:solidFill>
              <a:srgbClr val="EAF3E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663440" y="3063240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TPM und R+I mit festem Rhythmus und druckfertigem Prüfnachweis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57200" y="3794760"/>
            <a:ext cx="3108960" cy="566928"/>
          </a:xfrm>
          <a:prstGeom prst="roundRect">
            <a:avLst>
              <a:gd name="adj" fmla="val 12903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0080" y="3794760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„Was liegt an?“ per Zuruf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3749040" y="3922776"/>
            <a:ext cx="548640" cy="310896"/>
          </a:xfrm>
          <a:prstGeom prst="rightArrow">
            <a:avLst/>
          </a:prstGeom>
          <a:solidFill>
            <a:srgbClr val="C97A2B"/>
          </a:solidFill>
          <a:ln w="12700">
            <a:solidFill>
              <a:srgbClr val="C97A2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480560" y="3794760"/>
            <a:ext cx="4206240" cy="566928"/>
          </a:xfrm>
          <a:prstGeom prst="roundRect">
            <a:avLst>
              <a:gd name="adj" fmla="val 12903"/>
            </a:avLst>
          </a:prstGeom>
          <a:solidFill>
            <a:srgbClr val="EAF3EC"/>
          </a:solidFill>
          <a:ln w="12700">
            <a:solidFill>
              <a:srgbClr val="EAF3EC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663440" y="3794760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Übersicht: wer ist da, was ist offen, was ist fällig – für alle gleich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B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BTA-Cockpit · Instandhaltung digital in der Scheurich Group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822960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C3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Idee in Zahlen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Grundregel von Anfang an: Es muss ohne IT-Projekt laufen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1920240" cy="2651760"/>
          </a:xfrm>
          <a:prstGeom prst="roundRect">
            <a:avLst>
              <a:gd name="adj" fmla="val 4762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41732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97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22860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C3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2633472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eine Datei – kein Server, keine Datenbank, keine Installation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560320" y="1280160"/>
            <a:ext cx="1920240" cy="2651760"/>
          </a:xfrm>
          <a:prstGeom prst="roundRect">
            <a:avLst>
              <a:gd name="adj" fmla="val 4762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697480" y="141732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F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2697480" y="22860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C3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Dateien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2697480" y="2633472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auf dem Firmenlaufwerk: Kalender-Daten und Störberichte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63440" y="1280160"/>
            <a:ext cx="1920240" cy="2651760"/>
          </a:xfrm>
          <a:prstGeom prst="roundRect">
            <a:avLst>
              <a:gd name="adj" fmla="val 4762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00600" y="141732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0 €</a:t>
            </a:r>
            <a:endParaRPr lang="en-US" sz="4000" dirty="0"/>
          </a:p>
        </p:txBody>
      </p:sp>
      <p:sp>
        <p:nvSpPr>
          <p:cNvPr id="14" name="Text 12"/>
          <p:cNvSpPr txBox="1"/>
          <p:nvPr/>
        </p:nvSpPr>
        <p:spPr>
          <a:xfrm>
            <a:off x="4800600" y="22860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C3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Lizenzkosten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4800600" y="2633472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läuft auf den vorhandenen PCs und dem vorhandenen Laufwerk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766560" y="1280160"/>
            <a:ext cx="1920240" cy="2651760"/>
          </a:xfrm>
          <a:prstGeom prst="roundRect">
            <a:avLst>
              <a:gd name="adj" fmla="val 4762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903720" y="141732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C3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08/26</a:t>
            </a:r>
            <a:endParaRPr lang="en-US" sz="4000" dirty="0"/>
          </a:p>
        </p:txBody>
      </p:sp>
      <p:sp>
        <p:nvSpPr>
          <p:cNvPr id="18" name="Text 16"/>
          <p:cNvSpPr txBox="1"/>
          <p:nvPr/>
        </p:nvSpPr>
        <p:spPr>
          <a:xfrm>
            <a:off x="6903720" y="22860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C3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 Tagesbetrieb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6903720" y="2633472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seit August auf allen Werkstatt-Rechnern bei Scheurich (8 Mitarbeiter + Leitung)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Keine Adminrechte, kein Server, keine Datenbank, keine Anfrage an die IT – das war die Bedingung, damit es überhaupt starten konnte.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B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BTA-Cockpit · Instandhaltung digital in der Scheurich Group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822960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C3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600200"/>
            <a:ext cx="1051560" cy="1051560"/>
          </a:xfrm>
          <a:prstGeom prst="ellipse">
            <a:avLst/>
          </a:prstGeom>
          <a:solidFill>
            <a:srgbClr val="C97A2B"/>
          </a:solidFill>
          <a:ln w="12700">
            <a:solidFill>
              <a:srgbClr val="C97A2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160020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2103120" y="1234440"/>
            <a:ext cx="65836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Cockpit im Überblick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2103120" y="278892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7CC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 Bereiche mit echten Bildschirmbildern – so, wie die Werkstatt sie jeden Tag sieht (Beispieldaten).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BTA-Cockpit · Instandhaltung digital in der Scheurich Group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822960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C3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Übersicht – der Tag auf einen Blick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Startseite auf jedem Rechner: Kennzahlen, wer da ist, was offen ist, Pinnwand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20624" y="1152144"/>
            <a:ext cx="5742432" cy="3625901"/>
          </a:xfrm>
          <a:prstGeom prst="roundRect">
            <a:avLst>
              <a:gd name="adj" fmla="val 1261"/>
            </a:avLst>
          </a:prstGeom>
          <a:solidFill>
            <a:srgbClr val="FFFFFF"/>
          </a:solidFill>
          <a:ln w="9525">
            <a:solidFill>
              <a:srgbClr val="D5D9D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2000"/>
              </a:srgbClr>
            </a:outerShdw>
          </a:effectLst>
        </p:spPr>
      </p:sp>
      <p:pic>
        <p:nvPicPr>
          <p:cNvPr id="5" name="Image 0" descr="/tmp/claude-0/-home-user-WerkstattKalender/8b2eab4a-3225-51dd-900c-dbf3d21c0a06/scratchpad/shots/01-uebersic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5669280" cy="3552749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46520" y="1234440"/>
            <a:ext cx="201168" cy="201168"/>
          </a:xfrm>
          <a:prstGeom prst="ellipse">
            <a:avLst/>
          </a:prstGeom>
          <a:solidFill>
            <a:srgbClr val="C97A2B"/>
          </a:solidFill>
          <a:ln w="12700">
            <a:solidFill>
              <a:srgbClr val="C97A2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748272" y="11887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C3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Kennzahlen oben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6748272" y="146304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Heute fällig, erledigt, überfällig, TPM-Score, Uhrzeit und laufende Schicht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446520" y="2103120"/>
            <a:ext cx="201168" cy="201168"/>
          </a:xfrm>
          <a:prstGeom prst="ellipse">
            <a:avLst/>
          </a:prstGeom>
          <a:solidFill>
            <a:srgbClr val="1F7A3D"/>
          </a:solidFill>
          <a:ln w="12700">
            <a:solidFill>
              <a:srgbClr val="1F7A3D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748272" y="20574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C3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Heute da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6748272" y="233172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 in welcher Schicht arbeitet – direkt aus dem Schichtplan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6446520" y="2971800"/>
            <a:ext cx="201168" cy="201168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748272" y="29260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C3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Offene Störungen</a:t>
            </a:r>
            <a:endParaRPr lang="en-US" sz="1250" dirty="0"/>
          </a:p>
        </p:txBody>
      </p:sp>
      <p:sp>
        <p:nvSpPr>
          <p:cNvPr id="14" name="Text 11"/>
          <p:cNvSpPr txBox="1"/>
          <p:nvPr/>
        </p:nvSpPr>
        <p:spPr>
          <a:xfrm>
            <a:off x="6748272" y="320040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Restarbeit und Ausfallzeit – aus dem digitalen Schichtbuch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446520" y="3840480"/>
            <a:ext cx="201168" cy="201168"/>
          </a:xfrm>
          <a:prstGeom prst="ellipse">
            <a:avLst/>
          </a:prstGeom>
          <a:solidFill>
            <a:srgbClr val="F0C230"/>
          </a:solidFill>
          <a:ln w="12700">
            <a:solidFill>
              <a:srgbClr val="F0C230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748272" y="37947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C3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Pinnwand</a:t>
            </a:r>
            <a:endParaRPr lang="en-US" sz="1250" dirty="0"/>
          </a:p>
        </p:txBody>
      </p:sp>
      <p:sp>
        <p:nvSpPr>
          <p:cNvPr id="17" name="Text 14"/>
          <p:cNvSpPr txBox="1"/>
          <p:nvPr/>
        </p:nvSpPr>
        <p:spPr>
          <a:xfrm>
            <a:off x="6748272" y="406908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Übergaben und Hinweise für alle – mit einem Klick zur Arbeit gemacht</a:t>
            </a:r>
            <a:endParaRPr lang="en-US" sz="1050" dirty="0"/>
          </a:p>
        </p:txBody>
      </p:sp>
      <p:sp>
        <p:nvSpPr>
          <p:cNvPr id="18" name="Text 15"/>
          <p:cNvSpPr txBox="1"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B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BTA-Cockpit · Instandhaltung digital in der Scheurich Group</a:t>
            </a:r>
            <a:endParaRPr lang="en-US" sz="900" dirty="0"/>
          </a:p>
        </p:txBody>
      </p:sp>
      <p:sp>
        <p:nvSpPr>
          <p:cNvPr id="19" name="Text 16"/>
          <p:cNvSpPr txBox="1"/>
          <p:nvPr/>
        </p:nvSpPr>
        <p:spPr>
          <a:xfrm>
            <a:off x="822960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C3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Schichtplan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Monatsmatrix für das ganze Team – ersetzt das Excel-Blatt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20624" y="1152144"/>
            <a:ext cx="5742432" cy="3625901"/>
          </a:xfrm>
          <a:prstGeom prst="roundRect">
            <a:avLst>
              <a:gd name="adj" fmla="val 1261"/>
            </a:avLst>
          </a:prstGeom>
          <a:solidFill>
            <a:srgbClr val="FFFFFF"/>
          </a:solidFill>
          <a:ln w="9525">
            <a:solidFill>
              <a:srgbClr val="D5D9D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2000"/>
              </a:srgbClr>
            </a:outerShdw>
          </a:effectLst>
        </p:spPr>
      </p:sp>
      <p:pic>
        <p:nvPicPr>
          <p:cNvPr id="5" name="Image 0" descr="/tmp/claude-0/-home-user-WerkstattKalender/8b2eab4a-3225-51dd-900c-dbf3d21c0a06/scratchpad/shots/02-schichtpl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5669280" cy="3552749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46520" y="1234440"/>
            <a:ext cx="269748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Klick auf eine Zelle öffnet die Auswahl: Früh, Spät, Nacht, Bereitschaft, Urlaub, Krank, Schule …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Farben je Schichtart, Feiertage und Wochenenden automatisch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Gilt sofort auch in der Planung und in der Übersicht („Heute da“)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Aushang je Kalenderwoche per Knopfdruck (A4 quer)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Notizen an einzelnen Zellen – wie ein Kommentar im Excel</a:t>
            </a:r>
            <a:endParaRPr lang="en-US" sz="125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B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BTA-Cockpit · Instandhaltung digital in der Scheurich Group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822960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C3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Planung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 macht heute was – je Person, je Tag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20624" y="1152144"/>
            <a:ext cx="5742432" cy="3625901"/>
          </a:xfrm>
          <a:prstGeom prst="roundRect">
            <a:avLst>
              <a:gd name="adj" fmla="val 1261"/>
            </a:avLst>
          </a:prstGeom>
          <a:solidFill>
            <a:srgbClr val="FFFFFF"/>
          </a:solidFill>
          <a:ln w="9525">
            <a:solidFill>
              <a:srgbClr val="D5D9D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2000"/>
              </a:srgbClr>
            </a:outerShdw>
          </a:effectLst>
        </p:spPr>
      </p:sp>
      <p:pic>
        <p:nvPicPr>
          <p:cNvPr id="5" name="Image 0" descr="/tmp/claude-0/-home-user-WerkstattKalender/8b2eab4a-3225-51dd-900c-dbf3d21c0a06/scratchpad/shots/03-planu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5669280" cy="3552749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46520" y="1234440"/>
            <a:ext cx="269748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Wochenansicht: jede Person, jeder Tag, die Arbeiten dazu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Wartungsplan (TPM, R+I) fließt automatisch als Termine ein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Arbeiten aus dem Backlog werden per Klick eingeplant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Aushang als A4-Blatt – hängt in der Werkstatt</a:t>
            </a:r>
            <a:endParaRPr lang="en-US" sz="125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B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BTA-Cockpit · Instandhaltung digital in der Scheurich Group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822960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C3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Störungen – das digitale Schichtbuch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Jeder Störbericht hat eine Nummer und ist in Sekunden wiedergefunden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20624" y="1152144"/>
            <a:ext cx="5742432" cy="3625901"/>
          </a:xfrm>
          <a:prstGeom prst="roundRect">
            <a:avLst>
              <a:gd name="adj" fmla="val 1261"/>
            </a:avLst>
          </a:prstGeom>
          <a:solidFill>
            <a:srgbClr val="FFFFFF"/>
          </a:solidFill>
          <a:ln w="9525">
            <a:solidFill>
              <a:srgbClr val="D5D9D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2000"/>
              </a:srgbClr>
            </a:outerShdw>
          </a:effectLst>
        </p:spPr>
      </p:sp>
      <p:pic>
        <p:nvPicPr>
          <p:cNvPr id="5" name="Image 0" descr="/tmp/claude-0/-home-user-WerkstattKalender/8b2eab4a-3225-51dd-900c-dbf3d21c0a06/scratchpad/shots/06b-stoerungen-off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5669280" cy="3552749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46520" y="1234440"/>
            <a:ext cx="269748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Anlage, Teil, Störung, Ursache, Maßnahme, Ausfallzeit, Melder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Offen oder behoben – plus „was muss die nächste Schicht tun“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Ersatzteile und Nachbestellungen direkt am Bericht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Ansichten nach Datum, Anlage, Nummer, Status, Gewerk; Suche über alles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Auswertung: Störungen je Anlage und Monat, Ausfallzeiten</a:t>
            </a:r>
            <a:endParaRPr lang="en-US" sz="125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B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BTA-Cockpit · Instandhaltung digital in der Scheurich Group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822960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C3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Schichtbericht für die Morgenrunde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Blatt auf Knopfdruck – seit dieser Woche im Einsatz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20624" y="1152144"/>
            <a:ext cx="5559552" cy="2215909"/>
          </a:xfrm>
          <a:prstGeom prst="roundRect">
            <a:avLst>
              <a:gd name="adj" fmla="val 2063"/>
            </a:avLst>
          </a:prstGeom>
          <a:solidFill>
            <a:srgbClr val="FFFFFF"/>
          </a:solidFill>
          <a:ln w="9525">
            <a:solidFill>
              <a:srgbClr val="D5D9D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2000"/>
              </a:srgbClr>
            </a:outerShdw>
          </a:effectLst>
        </p:spPr>
      </p:sp>
      <p:pic>
        <p:nvPicPr>
          <p:cNvPr id="5" name="Image 0" descr="/tmp/claude-0/-home-user-WerkstattKalender/8b2eab4a-3225-51dd-900c-dbf3d21c0a06/scratchpad/shots/21-druck-schichtberich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5486400" cy="2142757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263640" y="1234440"/>
            <a:ext cx="28803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letzten drei Schichten (Früh, Spät, Nacht) auf einer A4-Seite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Kennzahlen oben: Anzahl, offen, Ausfallzeit gesamt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Eigene Spalte „Störungsursache“ – so wird in der Runde gesprochen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Offene Berichte stehen immer zuerst, mit roter Kante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Ausfallzeit als Plakette – ab 60 Minuten rot</a:t>
            </a:r>
            <a:endParaRPr lang="en-US" sz="125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B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BTA-Cockpit · Instandhaltung digital in der Scheurich Group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822960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C3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Berichte – alles an einem Ort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To-dos, Störungen, Backlog und Zeiterfassung unter einem Dach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20624" y="1152144"/>
            <a:ext cx="4096512" cy="2594458"/>
          </a:xfrm>
          <a:prstGeom prst="roundRect">
            <a:avLst>
              <a:gd name="adj" fmla="val 1762"/>
            </a:avLst>
          </a:prstGeom>
          <a:solidFill>
            <a:srgbClr val="FFFFFF"/>
          </a:solidFill>
          <a:ln w="9525">
            <a:solidFill>
              <a:srgbClr val="D5D9D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2000"/>
              </a:srgbClr>
            </a:outerShdw>
          </a:effectLst>
        </p:spPr>
      </p:sp>
      <p:pic>
        <p:nvPicPr>
          <p:cNvPr id="5" name="Image 0" descr="/tmp/claude-0/-home-user-WerkstattKalender/8b2eab4a-3225-51dd-900c-dbf3d21c0a06/scratchpad/shots/04-berichte-st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4023360" cy="252130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626864" y="1152144"/>
            <a:ext cx="4096512" cy="2594458"/>
          </a:xfrm>
          <a:prstGeom prst="roundRect">
            <a:avLst>
              <a:gd name="adj" fmla="val 1762"/>
            </a:avLst>
          </a:prstGeom>
          <a:solidFill>
            <a:srgbClr val="FFFFFF"/>
          </a:solidFill>
          <a:ln w="9525">
            <a:solidFill>
              <a:srgbClr val="D5D9D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2000"/>
              </a:srgbClr>
            </a:outerShdw>
          </a:effectLst>
        </p:spPr>
      </p:sp>
      <p:pic>
        <p:nvPicPr>
          <p:cNvPr id="7" name="Image 1" descr="/tmp/claude-0/-home-user-WerkstattKalender/8b2eab4a-3225-51dd-900c-dbf3d21c0a06/scratchpad/shots/05-tod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188720"/>
            <a:ext cx="4023360" cy="2521306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457200" y="3819754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Startseite mit Score (überfällige To-dos, offener Backlog, erledigt diese Woche) und einer Suche über alle Berichte.</a:t>
            </a:r>
            <a:endParaRPr lang="en-US" sz="1150" dirty="0"/>
          </a:p>
        </p:txBody>
      </p:sp>
      <p:sp>
        <p:nvSpPr>
          <p:cNvPr id="9" name="Text 5"/>
          <p:cNvSpPr txBox="1"/>
          <p:nvPr/>
        </p:nvSpPr>
        <p:spPr>
          <a:xfrm>
            <a:off x="4663440" y="3819754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To-do-Liste: erteilt von, an wen, bis wann, Priorität – erledigt mit Zeitstempel. Ohne Störungs-Bezug, für alles Übrige.</a:t>
            </a:r>
            <a:endParaRPr lang="en-US" sz="1150" dirty="0"/>
          </a:p>
        </p:txBody>
      </p:sp>
      <p:sp>
        <p:nvSpPr>
          <p:cNvPr id="10" name="Text 6"/>
          <p:cNvSpPr txBox="1"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B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BTA-Cockpit · Instandhaltung digital in der Scheurich Group</a:t>
            </a:r>
            <a:endParaRPr lang="en-US" sz="900" dirty="0"/>
          </a:p>
        </p:txBody>
      </p:sp>
      <p:sp>
        <p:nvSpPr>
          <p:cNvPr id="11" name="Text 7"/>
          <p:cNvSpPr txBox="1"/>
          <p:nvPr/>
        </p:nvSpPr>
        <p:spPr>
          <a:xfrm>
            <a:off x="822960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C3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TPM &amp; R+I – Wartung mit Prüfnachweis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PitStop-Wartung der Anlagen und gesetzlich getaktete Rundgänge und Inspektionen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20624" y="1152144"/>
            <a:ext cx="4645152" cy="2938272"/>
          </a:xfrm>
          <a:prstGeom prst="roundRect">
            <a:avLst>
              <a:gd name="adj" fmla="val 1556"/>
            </a:avLst>
          </a:prstGeom>
          <a:solidFill>
            <a:srgbClr val="FFFFFF"/>
          </a:solidFill>
          <a:ln w="9525">
            <a:solidFill>
              <a:srgbClr val="D5D9D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2000"/>
              </a:srgbClr>
            </a:outerShdw>
          </a:effectLst>
        </p:spPr>
      </p:sp>
      <p:pic>
        <p:nvPicPr>
          <p:cNvPr id="5" name="Image 0" descr="/tmp/claude-0/-home-user-WerkstattKalender/8b2eab4a-3225-51dd-900c-dbf3d21c0a06/scratchpad/shots/10-tpm-pl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4572000" cy="28651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49824" y="1152144"/>
            <a:ext cx="2999232" cy="2796357"/>
          </a:xfrm>
          <a:prstGeom prst="roundRect">
            <a:avLst>
              <a:gd name="adj" fmla="val 1635"/>
            </a:avLst>
          </a:prstGeom>
          <a:solidFill>
            <a:srgbClr val="FFFFFF"/>
          </a:solidFill>
          <a:ln w="9525">
            <a:solidFill>
              <a:srgbClr val="D5D9D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2000"/>
              </a:srgbClr>
            </a:outerShdw>
          </a:effectLst>
        </p:spPr>
      </p:sp>
      <p:pic>
        <p:nvPicPr>
          <p:cNvPr id="7" name="Image 1" descr="/tmp/claude-0/-home-user-WerkstattKalender/8b2eab4a-3225-51dd-900c-dbf3d21c0a06/scratchpad/shots/20-druck-pruefnachwei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188720"/>
            <a:ext cx="2926080" cy="2723205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457200" y="4181856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Plan-Kalender: PitStops je Anlage (Taktstraße, Montags-Rotation, freie Gruppen) und R+I-Punkte mit festem Rhythmus – wöchentlich, monatlich, alle X Monate, jeden ersten Montag …</a:t>
            </a:r>
            <a:endParaRPr lang="en-US" sz="1050" dirty="0"/>
          </a:p>
        </p:txBody>
      </p:sp>
      <p:sp>
        <p:nvSpPr>
          <p:cNvPr id="9" name="Text 5"/>
          <p:cNvSpPr txBox="1"/>
          <p:nvPr/>
        </p:nvSpPr>
        <p:spPr>
          <a:xfrm>
            <a:off x="5486400" y="4039941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Prüfnachweis: erledigt und versäumt je Prüfpunkt, mit Rechtsgrundlage (DGUV, DIN, VdS) – druckfertig fürs Audit, mit Unterschriftszeilen.</a:t>
            </a:r>
            <a:endParaRPr lang="en-US" sz="1050" dirty="0"/>
          </a:p>
        </p:txBody>
      </p:sp>
      <p:sp>
        <p:nvSpPr>
          <p:cNvPr id="10" name="Text 6"/>
          <p:cNvSpPr txBox="1"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B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BTA-Cockpit · Instandhaltung digital in der Scheurich Group</a:t>
            </a:r>
            <a:endParaRPr lang="en-US" sz="900" dirty="0"/>
          </a:p>
        </p:txBody>
      </p:sp>
      <p:sp>
        <p:nvSpPr>
          <p:cNvPr id="11" name="Text 7"/>
          <p:cNvSpPr txBox="1"/>
          <p:nvPr/>
        </p:nvSpPr>
        <p:spPr>
          <a:xfrm>
            <a:off x="822960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C3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Zeiterfassung und Backlog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Stunden auf Kostenstellen buchen – und Arbeiten sammeln, bis sie eingeplant werden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20624" y="1152144"/>
            <a:ext cx="4096512" cy="2594458"/>
          </a:xfrm>
          <a:prstGeom prst="roundRect">
            <a:avLst>
              <a:gd name="adj" fmla="val 1762"/>
            </a:avLst>
          </a:prstGeom>
          <a:solidFill>
            <a:srgbClr val="FFFFFF"/>
          </a:solidFill>
          <a:ln w="9525">
            <a:solidFill>
              <a:srgbClr val="D5D9D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2000"/>
              </a:srgbClr>
            </a:outerShdw>
          </a:effectLst>
        </p:spPr>
      </p:sp>
      <p:pic>
        <p:nvPicPr>
          <p:cNvPr id="5" name="Image 0" descr="/tmp/claude-0/-home-user-WerkstattKalender/8b2eab4a-3225-51dd-900c-dbf3d21c0a06/scratchpad/shots/08-zeiterfassu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4023360" cy="252130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626864" y="1152144"/>
            <a:ext cx="4096512" cy="2594458"/>
          </a:xfrm>
          <a:prstGeom prst="roundRect">
            <a:avLst>
              <a:gd name="adj" fmla="val 1762"/>
            </a:avLst>
          </a:prstGeom>
          <a:solidFill>
            <a:srgbClr val="FFFFFF"/>
          </a:solidFill>
          <a:ln w="9525">
            <a:solidFill>
              <a:srgbClr val="D5D9D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2000"/>
              </a:srgbClr>
            </a:outerShdw>
          </a:effectLst>
        </p:spPr>
      </p:sp>
      <p:pic>
        <p:nvPicPr>
          <p:cNvPr id="7" name="Image 1" descr="/tmp/claude-0/-home-user-WerkstattKalender/8b2eab4a-3225-51dd-900c-dbf3d21c0a06/scratchpad/shots/07-backlo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188720"/>
            <a:ext cx="4023360" cy="2521306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457200" y="3819754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Zeiterfassung: je Person und Tag Stunden auf Kostenstellen, mit Tätigkeit und Störungs-Bezug – Jahres-Export für die Auswertung.</a:t>
            </a:r>
            <a:endParaRPr lang="en-US" sz="1150" dirty="0"/>
          </a:p>
        </p:txBody>
      </p:sp>
      <p:sp>
        <p:nvSpPr>
          <p:cNvPr id="9" name="Text 5"/>
          <p:cNvSpPr txBox="1"/>
          <p:nvPr/>
        </p:nvSpPr>
        <p:spPr>
          <a:xfrm>
            <a:off x="4663440" y="3819754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Backlog: alle anstehenden Arbeiten je Anlage und Gewerk – offen oder erledigt, von hier aus in die Planung gezogen.</a:t>
            </a:r>
            <a:endParaRPr lang="en-US" sz="1150" dirty="0"/>
          </a:p>
        </p:txBody>
      </p:sp>
      <p:sp>
        <p:nvSpPr>
          <p:cNvPr id="10" name="Text 6"/>
          <p:cNvSpPr txBox="1"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B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BTA-Cockpit · Instandhaltung digital in der Scheurich Group</a:t>
            </a:r>
            <a:endParaRPr lang="en-US" sz="900" dirty="0"/>
          </a:p>
        </p:txBody>
      </p:sp>
      <p:sp>
        <p:nvSpPr>
          <p:cNvPr id="11" name="Text 7"/>
          <p:cNvSpPr txBox="1"/>
          <p:nvPr/>
        </p:nvSpPr>
        <p:spPr>
          <a:xfrm>
            <a:off x="822960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C3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Werkstatt-Monitor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Hallenbildschirm ohne Bedienung – und die Leser-Ansicht für Nur-Ansehen-Rechner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20624" y="1152144"/>
            <a:ext cx="5742432" cy="3625901"/>
          </a:xfrm>
          <a:prstGeom prst="roundRect">
            <a:avLst>
              <a:gd name="adj" fmla="val 1261"/>
            </a:avLst>
          </a:prstGeom>
          <a:solidFill>
            <a:srgbClr val="FFFFFF"/>
          </a:solidFill>
          <a:ln w="9525">
            <a:solidFill>
              <a:srgbClr val="D5D9D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2000"/>
              </a:srgbClr>
            </a:outerShdw>
          </a:effectLst>
        </p:spPr>
      </p:sp>
      <p:pic>
        <p:nvPicPr>
          <p:cNvPr id="5" name="Image 0" descr="/tmp/claude-0/-home-user-WerkstattKalender/8b2eab4a-3225-51dd-900c-dbf3d21c0a06/scratchpad/shots/14-monit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5669280" cy="3552749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46520" y="1234440"/>
            <a:ext cx="269748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Uhr, laufende Schicht, wer jetzt in der Werkstatt ist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Heute fällig, offener Backlog, TPM-Score mit Verlauf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Offene Störungen im Laufband unten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Leser-Rechner: nur ansehen, kein Eingriff – nach 15 Minuten ohne Eingabe automatisch zurück zur Übersicht</a:t>
            </a:r>
            <a:endParaRPr lang="en-US" sz="125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B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BTA-Cockpit · Instandhaltung digital in der Scheurich Group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822960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C3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Alles Verwalten an einem Ort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Zahnrad: Stammdaten und Einstellungen – ohne Programmierung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20624" y="1152144"/>
            <a:ext cx="5742432" cy="3625901"/>
          </a:xfrm>
          <a:prstGeom prst="roundRect">
            <a:avLst>
              <a:gd name="adj" fmla="val 1261"/>
            </a:avLst>
          </a:prstGeom>
          <a:solidFill>
            <a:srgbClr val="FFFFFF"/>
          </a:solidFill>
          <a:ln w="9525">
            <a:solidFill>
              <a:srgbClr val="D5D9D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2000"/>
              </a:srgbClr>
            </a:outerShdw>
          </a:effectLst>
        </p:spPr>
      </p:sp>
      <p:pic>
        <p:nvPicPr>
          <p:cNvPr id="5" name="Image 0" descr="/tmp/claude-0/-home-user-WerkstattKalender/8b2eab4a-3225-51dd-900c-dbf3d21c0a06/scratchpad/shots/13-verwalt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5669280" cy="3552749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46520" y="1234440"/>
            <a:ext cx="269748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Anlagen &amp; R+I: PitStop-Anlagen mit Rotationsart, Prüfpunkte mit Rhythmus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&amp; Schichten: Mitarbeiter, Rollen, Schichtarten, Reihenfolge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Kostenstellen, OEE-Anbindung, Monitor-Einstellungen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Verlauf &amp; Sicherung: Update-Ordner, Tages-Sicherung, Konflikt-Wächter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Benutzerrollen: Verwalter · Bearbeiter · Leser</a:t>
            </a:r>
            <a:endParaRPr lang="en-US" sz="125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B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BTA-Cockpit · Instandhaltung digital in der Scheurich Group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822960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2C3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600200"/>
            <a:ext cx="1051560" cy="1051560"/>
          </a:xfrm>
          <a:prstGeom prst="ellipse">
            <a:avLst/>
          </a:prstGeom>
          <a:solidFill>
            <a:srgbClr val="C97A2B"/>
          </a:solidFill>
          <a:ln w="12700">
            <a:solidFill>
              <a:srgbClr val="C97A2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160020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2103120" y="1234440"/>
            <a:ext cx="65836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Backend – bewusst einfach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2103120" y="278892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7CC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Keine Server, keine Datenbank: eine Programmdatei und zwei Datendateien auf dem Firmenlaufwerk.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BTA-Cockpit · Instandhaltung digital in der Scheurich Group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822960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C3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 die Daten liegen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Alles auf dem vorhandenen Firmenlaufwerk – jeder Rechner greift auf dieselben Dateien zu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3931920" cy="3246120"/>
          </a:xfrm>
          <a:prstGeom prst="roundRect">
            <a:avLst>
              <a:gd name="adj" fmla="val 2817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3898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FIRMENLAUFWERK  ·  \\SCHEUDC1\…\Werkstatt_Kalender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356616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9525">
            <a:solidFill>
              <a:srgbClr val="D5D9D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2011680"/>
            <a:ext cx="274320" cy="274320"/>
          </a:xfrm>
          <a:prstGeom prst="ellipse">
            <a:avLst/>
          </a:prstGeom>
          <a:solidFill>
            <a:srgbClr val="C97A2B"/>
          </a:solidFill>
          <a:ln w="12700">
            <a:solidFill>
              <a:srgbClr val="C97A2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188720" y="185623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3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Werkstatt_Kalender_TPM.html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213055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Programm – eine einzige Datei (Update-Ordner)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40080" y="2651760"/>
            <a:ext cx="356616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9525">
            <a:solidFill>
              <a:srgbClr val="D5D9D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7240" y="2880360"/>
            <a:ext cx="274320" cy="274320"/>
          </a:xfrm>
          <a:prstGeom prst="ellipse">
            <a:avLst/>
          </a:prstGeom>
          <a:solidFill>
            <a:srgbClr val="2F6690"/>
          </a:solidFill>
          <a:ln w="12700">
            <a:solidFill>
              <a:srgbClr val="2F669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188720" y="272491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3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kalender-daten.json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188720" y="299923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Schichten, Planung, To-dos, Zeiten, TPM/R+I, Pinnwand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40080" y="3520440"/>
            <a:ext cx="356616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9525">
            <a:solidFill>
              <a:srgbClr val="D5D9D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3749040"/>
            <a:ext cx="274320" cy="27432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188720" y="359359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3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werkstatt-stoerungen.json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188720" y="386791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Störberichte – für alle Melder beschreibbar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572000" y="2697480"/>
            <a:ext cx="548640" cy="320040"/>
          </a:xfrm>
          <a:prstGeom prst="rightArrow">
            <a:avLst/>
          </a:prstGeom>
          <a:solidFill>
            <a:srgbClr val="C97A2B"/>
          </a:solidFill>
          <a:ln w="12700">
            <a:solidFill>
              <a:srgbClr val="C97A2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303520" y="1280160"/>
            <a:ext cx="3383280" cy="914400"/>
          </a:xfrm>
          <a:prstGeom prst="roundRect">
            <a:avLst>
              <a:gd name="adj" fmla="val 10000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0" y="1581912"/>
            <a:ext cx="310896" cy="310896"/>
          </a:xfrm>
          <a:prstGeom prst="ellipse">
            <a:avLst/>
          </a:prstGeom>
          <a:solidFill>
            <a:srgbClr val="1F7A3D"/>
          </a:solidFill>
          <a:ln w="12700">
            <a:solidFill>
              <a:srgbClr val="1F7A3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943600" y="141732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Werkstatt-Rechner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5943600" y="1719072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lesen und schreiben – Bearbeiter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303520" y="2377440"/>
            <a:ext cx="3383280" cy="914400"/>
          </a:xfrm>
          <a:prstGeom prst="roundRect">
            <a:avLst>
              <a:gd name="adj" fmla="val 10000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6400" y="2679192"/>
            <a:ext cx="310896" cy="310896"/>
          </a:xfrm>
          <a:prstGeom prst="ellipse">
            <a:avLst/>
          </a:prstGeom>
          <a:solidFill>
            <a:srgbClr val="2F6690"/>
          </a:solidFill>
          <a:ln w="12700">
            <a:solidFill>
              <a:srgbClr val="2F669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943600" y="251460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Leser-Rechner / Monitor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5943600" y="2816352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 ansehen – z. B. Morgenrunde, Hallenbildschirm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303520" y="3474720"/>
            <a:ext cx="3383280" cy="914400"/>
          </a:xfrm>
          <a:prstGeom prst="roundRect">
            <a:avLst>
              <a:gd name="adj" fmla="val 10000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486400" y="3776472"/>
            <a:ext cx="310896" cy="310896"/>
          </a:xfrm>
          <a:prstGeom prst="ellipse">
            <a:avLst/>
          </a:prstGeom>
          <a:solidFill>
            <a:srgbClr val="C97A2B"/>
          </a:solidFill>
          <a:ln w="12700">
            <a:solidFill>
              <a:srgbClr val="C97A2B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943600" y="361188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Zweiter Standort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5943600" y="3913632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gleiches Programm, eigene Daten (Kapitel 3.5)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B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BTA-Cockpit · Instandhaltung digital in der Scheurich Group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822960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C3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Zusammenführen statt Überschreiben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 das Speichern funktioniert – und warum dabei nichts verloren geht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20624" y="1152144"/>
            <a:ext cx="5193792" cy="3282086"/>
          </a:xfrm>
          <a:prstGeom prst="roundRect">
            <a:avLst>
              <a:gd name="adj" fmla="val 1393"/>
            </a:avLst>
          </a:prstGeom>
          <a:solidFill>
            <a:srgbClr val="FFFFFF"/>
          </a:solidFill>
          <a:ln w="9525">
            <a:solidFill>
              <a:srgbClr val="D5D9D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2000"/>
              </a:srgbClr>
            </a:outerShdw>
          </a:effectLst>
        </p:spPr>
      </p:sp>
      <p:pic>
        <p:nvPicPr>
          <p:cNvPr id="5" name="Image 0" descr="/tmp/claude-0/-home-user-WerkstattKalender/8b2eab4a-3225-51dd-900c-dbf3d21c0a06/scratchpad/shots/12-kennkar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5120640" cy="320893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897880" y="1234440"/>
            <a:ext cx="32461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Jedes Speichern liest die ganze Datei, führt Eintrag für Eintrag zusammen und schreibt in einem Zug zurück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Speichern zwei Rechner gleichzeitig, erkennt die Schreibmarke das – der Zweite führt neu zusammen, verlustfrei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Konflikt-Wächter sammelt Kopien wie „…-GERÄTENAME.json“ automatisch ein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Tages-Sicherung von selbst, dazu eine lokale Sicherung je Rechner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Kennkarte (Bild) zeigt: verbunden womit, welche Rolle, welcher Stand</a:t>
            </a:r>
            <a:endParaRPr lang="en-US" sz="125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B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BTA-Cockpit · Instandhaltung digital in der Scheurich Group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822960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C3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 darf was – drei Rollen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Eine Benutzerliste in der gemeinsamen Datei – die echte Sperre bleiben die Laufwerksrechte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606040" cy="2331720"/>
          </a:xfrm>
          <a:prstGeom prst="roundRect">
            <a:avLst>
              <a:gd name="adj" fmla="val 3922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481328"/>
            <a:ext cx="548640" cy="548640"/>
          </a:xfrm>
          <a:prstGeom prst="ellipse">
            <a:avLst/>
          </a:prstGeom>
          <a:solidFill>
            <a:srgbClr val="C97A2B"/>
          </a:solidFill>
          <a:ln w="12700">
            <a:solidFill>
              <a:srgbClr val="C97A2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4813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32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1488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3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Verwalter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487168"/>
            <a:ext cx="2194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Schreiben und Benutzer pflegen – Anlagen, Team, Rollen, Kennwörter. In der Regel der Werkstattleiter.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291840" y="1280160"/>
            <a:ext cx="2606040" cy="2331720"/>
          </a:xfrm>
          <a:prstGeom prst="roundRect">
            <a:avLst>
              <a:gd name="adj" fmla="val 3922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20440" y="1481328"/>
            <a:ext cx="548640" cy="548640"/>
          </a:xfrm>
          <a:prstGeom prst="ellipse">
            <a:avLst/>
          </a:prstGeom>
          <a:solidFill>
            <a:srgbClr val="1F7A3D"/>
          </a:solidFill>
          <a:ln w="12700">
            <a:solidFill>
              <a:srgbClr val="1F7A3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520440" y="14813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320" dirty="0"/>
          </a:p>
        </p:txBody>
      </p:sp>
      <p:sp>
        <p:nvSpPr>
          <p:cNvPr id="12" name="Text 10"/>
          <p:cNvSpPr txBox="1"/>
          <p:nvPr/>
        </p:nvSpPr>
        <p:spPr>
          <a:xfrm>
            <a:off x="3520440" y="21488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3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Bearbeiter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520440" y="2487168"/>
            <a:ext cx="2194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Einträge anlegen und ändern: Störungen melden, Schichten setzen, To-dos, Zeiten buchen.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126480" y="1280160"/>
            <a:ext cx="2606040" cy="2331720"/>
          </a:xfrm>
          <a:prstGeom prst="roundRect">
            <a:avLst>
              <a:gd name="adj" fmla="val 3922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55080" y="1481328"/>
            <a:ext cx="548640" cy="548640"/>
          </a:xfrm>
          <a:prstGeom prst="ellipse">
            <a:avLst/>
          </a:prstGeom>
          <a:solidFill>
            <a:srgbClr val="2F6690"/>
          </a:solidFill>
          <a:ln w="12700">
            <a:solidFill>
              <a:srgbClr val="2F669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355080" y="14813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endParaRPr lang="en-US" sz="1320" dirty="0"/>
          </a:p>
        </p:txBody>
      </p:sp>
      <p:sp>
        <p:nvSpPr>
          <p:cNvPr id="17" name="Text 15"/>
          <p:cNvSpPr txBox="1"/>
          <p:nvPr/>
        </p:nvSpPr>
        <p:spPr>
          <a:xfrm>
            <a:off x="6355080" y="21488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3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Leser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355080" y="2487168"/>
            <a:ext cx="2194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 ansehen: Übersicht, Schichtplan, Berichte. Nach 15 Minuten ohne Eingabe zurück zur Übersicht.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57200" y="3794760"/>
            <a:ext cx="8229600" cy="685800"/>
          </a:xfrm>
          <a:prstGeom prst="roundRect">
            <a:avLst>
              <a:gd name="adj" fmla="val 13333"/>
            </a:avLst>
          </a:prstGeom>
          <a:solidFill>
            <a:srgbClr val="FDF6DF"/>
          </a:solidFill>
          <a:ln w="12700">
            <a:solidFill>
              <a:srgbClr val="FDF6D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0080" y="3858768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5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Ehrlich gesagt: Die Rollen sind eine Leitplanke gegen Versehen, kein kryptografisches Schloss. Wer den Datenordner auf dem Laufwerk öffnen darf, käme technisch an der App vorbei – echtes Sperren leisten nur die Laufwerksrechte. Ohne Schreibrecht auf dem Laufwerk schaltet die App von selbst auf „nur ansehen“.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B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BTA-Cockpit · Instandhaltung digital in der Scheurich Group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822960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C3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Updates über den grünen Balken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Eine neue Fassung wird einmal abgelegt – jeder Rechner holt sie sich selbst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920240" cy="2286000"/>
          </a:xfrm>
          <a:prstGeom prst="roundRect">
            <a:avLst>
              <a:gd name="adj" fmla="val 4762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508760"/>
            <a:ext cx="457200" cy="457200"/>
          </a:xfrm>
          <a:prstGeom prst="ellipse">
            <a:avLst/>
          </a:prstGeom>
          <a:solidFill>
            <a:srgbClr val="1F7A3D"/>
          </a:solidFill>
          <a:ln w="12700">
            <a:solidFill>
              <a:srgbClr val="1F7A3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1031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C3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Datei ablegen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450592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neue Werkstatt_Kalender_TPM.html kommt in den Update-Ordner auf dem Laufwerk.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395728" y="2331720"/>
            <a:ext cx="164592" cy="228600"/>
          </a:xfrm>
          <a:prstGeom prst="rightArrow">
            <a:avLst/>
          </a:prstGeom>
          <a:solidFill>
            <a:srgbClr val="1F7A3D"/>
          </a:solidFill>
          <a:ln w="12700">
            <a:solidFill>
              <a:srgbClr val="1F7A3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60320" y="1325880"/>
            <a:ext cx="1920240" cy="2286000"/>
          </a:xfrm>
          <a:prstGeom prst="roundRect">
            <a:avLst>
              <a:gd name="adj" fmla="val 4762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0" y="1508760"/>
            <a:ext cx="457200" cy="457200"/>
          </a:xfrm>
          <a:prstGeom prst="ellipse">
            <a:avLst/>
          </a:prstGeom>
          <a:solidFill>
            <a:srgbClr val="1F7A3D"/>
          </a:solidFill>
          <a:ln w="12700">
            <a:solidFill>
              <a:srgbClr val="1F7A3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74320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2743200" y="21031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C3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Rechner prüft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2743200" y="2450592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Jeder Rechner schaut alle 5 Minuten in den Ordner – ohne dass jemand etwas tut.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498848" y="2331720"/>
            <a:ext cx="164592" cy="228600"/>
          </a:xfrm>
          <a:prstGeom prst="rightArrow">
            <a:avLst/>
          </a:prstGeom>
          <a:solidFill>
            <a:srgbClr val="1F7A3D"/>
          </a:solidFill>
          <a:ln w="12700">
            <a:solidFill>
              <a:srgbClr val="1F7A3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63440" y="1325880"/>
            <a:ext cx="1920240" cy="2286000"/>
          </a:xfrm>
          <a:prstGeom prst="roundRect">
            <a:avLst>
              <a:gd name="adj" fmla="val 4762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46320" y="1508760"/>
            <a:ext cx="457200" cy="457200"/>
          </a:xfrm>
          <a:prstGeom prst="ellipse">
            <a:avLst/>
          </a:prstGeom>
          <a:solidFill>
            <a:srgbClr val="1F7A3D"/>
          </a:solidFill>
          <a:ln w="12700">
            <a:solidFill>
              <a:srgbClr val="1F7A3D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84632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4846320" y="21031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C3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Grüner Balken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4846320" y="2450592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„Neue Version verfügbar“ erscheint oben im Cockpit – mit dem Knopf „Jetzt aktualisieren“.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601968" y="2331720"/>
            <a:ext cx="164592" cy="228600"/>
          </a:xfrm>
          <a:prstGeom prst="rightArrow">
            <a:avLst/>
          </a:prstGeom>
          <a:solidFill>
            <a:srgbClr val="1F7A3D"/>
          </a:solidFill>
          <a:ln w="12700">
            <a:solidFill>
              <a:srgbClr val="1F7A3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766560" y="1325880"/>
            <a:ext cx="1920240" cy="2286000"/>
          </a:xfrm>
          <a:prstGeom prst="roundRect">
            <a:avLst>
              <a:gd name="adj" fmla="val 4762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949440" y="1508760"/>
            <a:ext cx="457200" cy="457200"/>
          </a:xfrm>
          <a:prstGeom prst="ellipse">
            <a:avLst/>
          </a:prstGeom>
          <a:solidFill>
            <a:srgbClr val="1F7A3D"/>
          </a:solidFill>
          <a:ln w="12700">
            <a:solidFill>
              <a:srgbClr val="1F7A3D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94944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6949440" y="21031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C3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Klick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6949440" y="2450592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Fassung wird sicher übernommen. Daten bleiben unberührt – sie liegen ja in den JSON-Dateien.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57200" y="3840480"/>
            <a:ext cx="8229600" cy="548640"/>
          </a:xfrm>
          <a:prstGeom prst="roundRect">
            <a:avLst>
              <a:gd name="adj" fmla="val 10000"/>
            </a:avLst>
          </a:prstGeom>
          <a:solidFill>
            <a:srgbClr val="EAF3EC"/>
          </a:solidFill>
          <a:ln w="12700">
            <a:solidFill>
              <a:srgbClr val="A9CDB4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85800" y="384048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5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Neue Version verfügbar – Werkstatt_Kalender_TPM (73).html (17.09., 06:45)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583680" y="3950208"/>
            <a:ext cx="1463040" cy="329184"/>
          </a:xfrm>
          <a:prstGeom prst="roundRect">
            <a:avLst>
              <a:gd name="adj" fmla="val 13889"/>
            </a:avLst>
          </a:prstGeom>
          <a:solidFill>
            <a:srgbClr val="1F7A3D"/>
          </a:solidFill>
          <a:ln w="12700">
            <a:solidFill>
              <a:srgbClr val="1F7A3D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583680" y="3950208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Jetzt aktualisieren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8138160" y="3950208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später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B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BTA-Cockpit · Instandhaltung digital in der Scheurich Group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822960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C3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Zwei Firmen, ein Programm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Scheurich und Soendgen Keramik: gleiche Updates, komplett getrennte Daten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3931920" cy="2103120"/>
          </a:xfrm>
          <a:prstGeom prst="roundRect">
            <a:avLst>
              <a:gd name="adj" fmla="val 4348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7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Scheurich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874520"/>
            <a:ext cx="3474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eigene kalender-daten.json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eigene werkstatt-stoerungen.json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eigene Anlagen, Team, R+I-Punkte, Benutzer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0" y="1280160"/>
            <a:ext cx="3931920" cy="2103120"/>
          </a:xfrm>
          <a:prstGeom prst="roundRect">
            <a:avLst>
              <a:gd name="adj" fmla="val 4348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983480" y="14173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Soendgen Keramik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4983480" y="1874520"/>
            <a:ext cx="3474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eigene kalender-daten.json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eigene werkstatt-stoerungen.json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eigene Anlagen, Team, R+I-Punkte, Benutzer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3566160"/>
            <a:ext cx="8229600" cy="868680"/>
          </a:xfrm>
          <a:prstGeom prst="roundRect">
            <a:avLst>
              <a:gd name="adj" fmla="val 10526"/>
            </a:avLst>
          </a:prstGeom>
          <a:solidFill>
            <a:srgbClr val="EAF3EC"/>
          </a:solidFill>
          <a:ln w="12700">
            <a:solidFill>
              <a:srgbClr val="EAF3E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" y="3611880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5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Gemeinsam: dieselbe Programmdatei und derselbe Update-Ordner auf dem Firmenlaufwerk – eine neue Fassung erreicht beide Werkstätten. Beim ersten Start wählt jeder Rechner seine Werkstatt; die Daten der anderen sieht er nie.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B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BTA-Cockpit · Instandhaltung digital in der Scheurich Group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2C3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600200"/>
            <a:ext cx="1051560" cy="1051560"/>
          </a:xfrm>
          <a:prstGeom prst="ellipse">
            <a:avLst/>
          </a:prstGeom>
          <a:solidFill>
            <a:srgbClr val="C97A2B"/>
          </a:solidFill>
          <a:ln w="12700">
            <a:solidFill>
              <a:srgbClr val="C97A2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160020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2103120" y="1234440"/>
            <a:ext cx="65836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Belastbarkeit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2103120" y="278892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7CC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Messen statt behaupten: ein Stresstest weit jenseits des Alltags und 73 automatische Härtetests vor jeder Auslieferung.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BTA-Cockpit · Instandhaltung digital in der Scheurich Group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822960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C3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Stresstest: 15 Jahre ohne Aufräumen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Messfahrt vom 11.09.2026 – absichtlich weit jenseits des Betriebsalltags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377440" cy="914400"/>
          </a:xfrm>
          <a:prstGeom prst="roundRect">
            <a:avLst>
              <a:gd name="adj" fmla="val 10000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3258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97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71.084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84708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Einträge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2331720"/>
            <a:ext cx="2377440" cy="914400"/>
          </a:xfrm>
          <a:prstGeom prst="roundRect">
            <a:avLst>
              <a:gd name="adj" fmla="val 10000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94360" y="23774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F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289864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Jahrgänge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383280"/>
            <a:ext cx="2377440" cy="914400"/>
          </a:xfrm>
          <a:prstGeom prst="roundRect">
            <a:avLst>
              <a:gd name="adj" fmla="val 10000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94360" y="342900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15,2 MB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594360" y="395020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Dateigröße</a:t>
            </a:r>
            <a:endParaRPr lang="en-US" sz="1100" dirty="0"/>
          </a:p>
        </p:txBody>
      </p:sp>
      <p:graphicFrame>
        <p:nvGraphicFramePr>
          <p:cNvPr id="13" name="Chart 0" descr=""/>
          <p:cNvGraphicFramePr/>
          <p:nvPr/>
        </p:nvGraphicFramePr>
        <p:xfrm>
          <a:off x="3108960" y="1234440"/>
          <a:ext cx="5577840" cy="3246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4" name="Text 11"/>
          <p:cNvSpPr txBox="1"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B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BTA-Cockpit · Instandhaltung digital in der Scheurich Group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822960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C3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Gemessene Zeiten bei 70.000 Einträgen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Stoppuhr an der App selbst – die Netz-Geschwindigkeit des Laufwerks kommt obendrauf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8229600" cy="347472"/>
          </a:xfrm>
          <a:prstGeom prst="rect">
            <a:avLst/>
          </a:prstGeom>
          <a:solidFill>
            <a:srgbClr val="2C3137"/>
          </a:solidFill>
          <a:ln w="12700">
            <a:solidFill>
              <a:srgbClr val="2C313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234440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Vorgang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0" y="123444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Zeit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6675120" y="123444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Einordnung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7200" y="1581912"/>
            <a:ext cx="8229600" cy="402336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94360" y="1581912"/>
            <a:ext cx="4754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Verbinden (Datei komplett lesen, alles zusammenführen)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5486400" y="1581912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3,1 s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675120" y="1581912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einmal beim Start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594360" y="1984248"/>
            <a:ext cx="4754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Speichern, ein Bearbeiter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0" y="1984248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6,8 s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675120" y="1984248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 Hintergrund – der Dialog schließt sofort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386584"/>
            <a:ext cx="8229600" cy="402336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94360" y="2386584"/>
            <a:ext cx="4754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Speichern, zwei Bearbeiter im selben Augenblick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0" y="2386584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7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 s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675120" y="2386584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Extremfall, verlustfrei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594360" y="2788920"/>
            <a:ext cx="4754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App-Start bis die Oberfläche steht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0" y="2788920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0,6 s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675120" y="2788920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3191256"/>
            <a:ext cx="8229600" cy="402336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94360" y="3191256"/>
            <a:ext cx="4754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Leichte Bereiche (Übersicht, Berichte, To-do, Planung, TPM)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0" y="3191256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0,1–0,9 s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6675120" y="3191256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Klick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594360" y="3593592"/>
            <a:ext cx="4754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Datenreiche Bereiche (Störungen, Backlog, Zeiten, Schichtplan)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0" y="3593592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7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2–10 s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6675120" y="3593592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Klick, beim Stress-Bestand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41148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Ehrlich dazugesagt: Beim Stress-Bestand sind die vier datenreichen Bereiche spürbar zäh – das steht als offener Punkt in der Roll-out-Liste. Im Alltag (ein Drittel dieser Menge) sind kürzere Zeiten zu erwarten, dort bislang ungemessen.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B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BTA-Cockpit · Instandhaltung digital in der Scheurich Group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822960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C3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 Härtetests vor jeder Auslieferung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Automatisch, wiederholbar – jede Änderung muss die ganze Suite grün durchlaufen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4023360" cy="1417320"/>
          </a:xfrm>
          <a:prstGeom prst="roundRect">
            <a:avLst>
              <a:gd name="adj" fmla="val 6452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463040"/>
            <a:ext cx="457200" cy="45720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⇄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144475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C3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Daten &amp; Sync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178308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Zwei Rechner speichern gleichzeitig · beschädigte Datei · Konfliktkopien · Massenlöschung · Speicher voll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663440" y="1280160"/>
            <a:ext cx="4023360" cy="1417320"/>
          </a:xfrm>
          <a:prstGeom prst="roundRect">
            <a:avLst>
              <a:gd name="adj" fmla="val 6452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46320" y="1463040"/>
            <a:ext cx="457200" cy="457200"/>
          </a:xfrm>
          <a:prstGeom prst="ellipse">
            <a:avLst/>
          </a:prstGeom>
          <a:solidFill>
            <a:srgbClr val="2F6690"/>
          </a:solidFill>
          <a:ln w="12700">
            <a:solidFill>
              <a:srgbClr val="2F669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4632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5440680" y="144475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C3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Rechte &amp; Leser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5440680" y="178308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Leser kommt nie an Eingaben · Umgehung geprüft · Benutzerliste · Verbindung nach Neustart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2880360"/>
            <a:ext cx="4023360" cy="1417320"/>
          </a:xfrm>
          <a:prstGeom prst="roundRect">
            <a:avLst>
              <a:gd name="adj" fmla="val 6452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" y="3063240"/>
            <a:ext cx="457200" cy="457200"/>
          </a:xfrm>
          <a:prstGeom prst="ellipse">
            <a:avLst/>
          </a:prstGeom>
          <a:solidFill>
            <a:srgbClr val="C97A2B"/>
          </a:solidFill>
          <a:ln w="12700">
            <a:solidFill>
              <a:srgbClr val="C97A2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3063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1234440" y="304495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C3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Zeit &amp; Termine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1234440" y="338328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Jahreswechsel · falsch gehende Rechneruhr · Zeitumstellung · Feiertage · alle Rhythmen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663440" y="2880360"/>
            <a:ext cx="4023360" cy="1417320"/>
          </a:xfrm>
          <a:prstGeom prst="roundRect">
            <a:avLst>
              <a:gd name="adj" fmla="val 6452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46320" y="3063240"/>
            <a:ext cx="457200" cy="457200"/>
          </a:xfrm>
          <a:prstGeom prst="ellipse">
            <a:avLst/>
          </a:prstGeom>
          <a:solidFill>
            <a:srgbClr val="1F7A3D"/>
          </a:solidFill>
          <a:ln w="12700">
            <a:solidFill>
              <a:srgbClr val="1F7A3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846320" y="3063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▤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5440680" y="304495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C3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Oberfläche &amp; Druck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5440680" y="338328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 Druckvorlagen passen auf die Seite · Schichtbericht-Format · Dialoge laufen nicht über · 70.000er-Klickrunde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Grundregel: Eine Änderung am Speichern oder Zusammenführen braucht einen Test, der OHNE die Änderung fehlschlägt – erst dann gilt sie als bewiesen.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B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BTA-Cockpit · Instandhaltung digital in der Scheurich Group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822960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2C3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600200"/>
            <a:ext cx="1051560" cy="1051560"/>
          </a:xfrm>
          <a:prstGeom prst="ellipse">
            <a:avLst/>
          </a:prstGeom>
          <a:solidFill>
            <a:srgbClr val="C97A2B"/>
          </a:solidFill>
          <a:ln w="12700">
            <a:solidFill>
              <a:srgbClr val="C97A2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160020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2103120" y="1234440"/>
            <a:ext cx="65836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Einführung in 5 Minuten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2103120" y="278892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7CC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Download oder ein USB-Stick, ein Doppelklick, ein grüner Knopf – ohne Adminrechte, ohne IT-Anfrage.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BTA-Cockpit · Instandhaltung digital in der Scheurich Group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822960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C3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Ablauf für jeden Rechner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Weg zum Paket ist frei wählbar – danach ist es immer dasselbe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468880" cy="731520"/>
          </a:xfrm>
          <a:prstGeom prst="roundRect">
            <a:avLst>
              <a:gd name="adj" fmla="val 12500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35331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C3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Link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609344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Komplettpaket als eine Datei vom Release – der Link bleibt immer derselbe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57200" y="2148840"/>
            <a:ext cx="2468880" cy="731520"/>
          </a:xfrm>
          <a:prstGeom prst="roundRect">
            <a:avLst>
              <a:gd name="adj" fmla="val 12500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222199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C3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USB-Stick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478024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Derselbe Ordner auf dem Stick – für Rechner ohne Internet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57200" y="3017520"/>
            <a:ext cx="2468880" cy="731520"/>
          </a:xfrm>
          <a:prstGeom prst="roundRect">
            <a:avLst>
              <a:gd name="adj" fmla="val 12500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" y="309067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C3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Laufwerk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3346704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Oder das Paket liegt schon auf dem Firmenlaufwerk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108960" y="2240280"/>
            <a:ext cx="502920" cy="320040"/>
          </a:xfrm>
          <a:prstGeom prst="rightArrow">
            <a:avLst/>
          </a:prstGeom>
          <a:solidFill>
            <a:srgbClr val="C97A2B"/>
          </a:solidFill>
          <a:ln w="12700">
            <a:solidFill>
              <a:srgbClr val="C97A2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840480" y="1371600"/>
            <a:ext cx="457200" cy="457200"/>
          </a:xfrm>
          <a:prstGeom prst="ellipse">
            <a:avLst/>
          </a:prstGeom>
          <a:solidFill>
            <a:srgbClr val="1F7A3D"/>
          </a:solidFill>
          <a:ln w="12700">
            <a:solidFill>
              <a:srgbClr val="1F7A3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84048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480560" y="130759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C3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Entpacken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4480560" y="16002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auf dem Rechner (nie vom Stick starten)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840480" y="2029968"/>
            <a:ext cx="457200" cy="457200"/>
          </a:xfrm>
          <a:prstGeom prst="ellipse">
            <a:avLst/>
          </a:prstGeom>
          <a:solidFill>
            <a:srgbClr val="1F7A3D"/>
          </a:solidFill>
          <a:ln w="12700">
            <a:solidFill>
              <a:srgbClr val="1F7A3D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840480" y="2029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4480560" y="196596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C3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Werkzeug starten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4480560" y="2258568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Doppelklick auf BTA-Cockpit-Werkzeug.cmd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840480" y="2688336"/>
            <a:ext cx="457200" cy="457200"/>
          </a:xfrm>
          <a:prstGeom prst="ellipse">
            <a:avLst/>
          </a:prstGeom>
          <a:solidFill>
            <a:srgbClr val="1F7A3D"/>
          </a:solidFill>
          <a:ln w="12700">
            <a:solidFill>
              <a:srgbClr val="1F7A3D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840480" y="26883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4480560" y="262432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C3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Einrichten</a:t>
            </a:r>
            <a:endParaRPr lang="en-US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4480560" y="2916936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Standort wählen, Pfade stehen schon drin, grüner Knopf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840480" y="3346704"/>
            <a:ext cx="457200" cy="457200"/>
          </a:xfrm>
          <a:prstGeom prst="ellipse">
            <a:avLst/>
          </a:prstGeom>
          <a:solidFill>
            <a:srgbClr val="1F7A3D"/>
          </a:solidFill>
          <a:ln w="12700">
            <a:solidFill>
              <a:srgbClr val="1F7A3D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3840480" y="33467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4480560" y="3282696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C3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Fertig</a:t>
            </a:r>
            <a:endParaRPr lang="en-US" sz="1350" dirty="0"/>
          </a:p>
        </p:txBody>
      </p:sp>
      <p:sp>
        <p:nvSpPr>
          <p:cNvPr id="29" name="Text 27"/>
          <p:cNvSpPr txBox="1"/>
          <p:nvPr/>
        </p:nvSpPr>
        <p:spPr>
          <a:xfrm>
            <a:off x="4480560" y="3575304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Desktop-Verknüpfung – der erste Start verbindet von selbst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57200" y="4114800"/>
            <a:ext cx="8229600" cy="548640"/>
          </a:xfrm>
          <a:prstGeom prst="roundRect">
            <a:avLst>
              <a:gd name="adj" fmla="val 16667"/>
            </a:avLst>
          </a:prstGeom>
          <a:solidFill>
            <a:srgbClr val="EAF3EC"/>
          </a:solidFill>
          <a:ln w="12700">
            <a:solidFill>
              <a:srgbClr val="EAF3EC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40080" y="411480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5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Nicht nötig: Adminrechte · Installation im Windows-Sinn · Server · Datenbank · IT-Ticket. Den Ordner löschen entfernt alles wieder.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B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BTA-Cockpit · Instandhaltung digital in der Scheurich Group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822960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C3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Werkzeug – Reiter „Einrichten“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richtiges Windows-Fenster, gebaut mit Bordmitteln – nichts wird installiert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20624" y="1152144"/>
            <a:ext cx="2999232" cy="3501542"/>
          </a:xfrm>
          <a:prstGeom prst="roundRect">
            <a:avLst>
              <a:gd name="adj" fmla="val 1524"/>
            </a:avLst>
          </a:prstGeom>
          <a:solidFill>
            <a:srgbClr val="FFFFFF"/>
          </a:solidFill>
          <a:ln w="9525">
            <a:solidFill>
              <a:srgbClr val="D5D9D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2000"/>
              </a:srgbClr>
            </a:outerShdw>
          </a:effectLst>
        </p:spPr>
      </p:sp>
      <p:pic>
        <p:nvPicPr>
          <p:cNvPr id="5" name="Image 0" descr="/tmp/claude-0/-home-user-WerkstattKalender/8b2eab4a-3225-51dd-900c-dbf3d21c0a06/scratchpad/shots/30-werkzeug-einricht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2926080" cy="342839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3703320" y="1234440"/>
            <a:ext cx="544068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Standort-Vorlage: Scheurich oder Soendgen Keramik – die vier Pfade füllen sich passend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Rechner-Art: Arbeitsplatz oder Info-Bildschirm (Autostart, Vollbild für die Morgenrunde)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„Einrichten“ entpackt das Programm, schreibt die Pfade und legt die Verknüpfung an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„Programm herunterladen“ holt den neuesten Stand direkt vom Release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Unten immer sichtbar: Ladebalken und Protokoll – bei Fragen einfach speichern und schicken</a:t>
            </a:r>
            <a:endParaRPr lang="en-US" sz="125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B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BTA-Cockpit · Instandhaltung digital in der Scheurich Group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822960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C3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Werkzeug – Selbsttest und Wartung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„Geht bei dem nicht“ wird in Sekunden zur Ampel; die Pflege-Handgriffe an einem Ort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20624" y="1152144"/>
            <a:ext cx="3730752" cy="2694432"/>
          </a:xfrm>
          <a:prstGeom prst="roundRect">
            <a:avLst>
              <a:gd name="adj" fmla="val 1697"/>
            </a:avLst>
          </a:prstGeom>
          <a:solidFill>
            <a:srgbClr val="FFFFFF"/>
          </a:solidFill>
          <a:ln w="9525">
            <a:solidFill>
              <a:srgbClr val="D5D9D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2000"/>
              </a:srgbClr>
            </a:outerShdw>
          </a:effectLst>
        </p:spPr>
      </p:sp>
      <p:pic>
        <p:nvPicPr>
          <p:cNvPr id="5" name="Image 0" descr="/tmp/claude-0/-home-user-WerkstattKalender/8b2eab4a-3225-51dd-900c-dbf3d21c0a06/scratchpad/shots/31-werkzeug-selbstte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3657600" cy="26212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992624" y="1152144"/>
            <a:ext cx="3730752" cy="2889504"/>
          </a:xfrm>
          <a:prstGeom prst="roundRect">
            <a:avLst>
              <a:gd name="adj" fmla="val 1582"/>
            </a:avLst>
          </a:prstGeom>
          <a:solidFill>
            <a:srgbClr val="FFFFFF"/>
          </a:solidFill>
          <a:ln w="9525">
            <a:solidFill>
              <a:srgbClr val="D5D9D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2000"/>
              </a:srgbClr>
            </a:outerShdw>
          </a:effectLst>
        </p:spPr>
      </p:sp>
      <p:pic>
        <p:nvPicPr>
          <p:cNvPr id="7" name="Image 1" descr="/tmp/claude-0/-home-user-WerkstattKalender/8b2eab4a-3225-51dd-900c-dbf3d21c0a06/scratchpad/shots/32-werkzeug-wartu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188720"/>
            <a:ext cx="3657600" cy="2816352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457200" y="411480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Selbsttest: Laufwerk, Datendatei, Schreibrecht (Bearbeiter oder Leser), Update-Ordner, Störungs-Datei – grün, gelb oder rot. Prüfbericht als Textdatei für die Ablage.</a:t>
            </a:r>
            <a:endParaRPr lang="en-US" sz="1050" dirty="0"/>
          </a:p>
        </p:txBody>
      </p:sp>
      <p:sp>
        <p:nvSpPr>
          <p:cNvPr id="9" name="Text 5"/>
          <p:cNvSpPr txBox="1"/>
          <p:nvPr/>
        </p:nvSpPr>
        <p:spPr>
          <a:xfrm>
            <a:off x="5029200" y="411480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Wartung: nach Update suchen, Verknüpfung reparieren, an Taskleiste anheften, Datenordner öffnen, Pfade neu speichern – und „Vom Rechner entfernen“ räumt sauber ab.</a:t>
            </a:r>
            <a:endParaRPr lang="en-US" sz="1050" dirty="0"/>
          </a:p>
        </p:txBody>
      </p:sp>
      <p:sp>
        <p:nvSpPr>
          <p:cNvPr id="10" name="Text 6"/>
          <p:cNvSpPr txBox="1"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B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BTA-Cockpit · Instandhaltung digital in der Scheurich Group</a:t>
            </a:r>
            <a:endParaRPr lang="en-US" sz="900" dirty="0"/>
          </a:p>
        </p:txBody>
      </p:sp>
      <p:sp>
        <p:nvSpPr>
          <p:cNvPr id="11" name="Text 7"/>
          <p:cNvSpPr txBox="1"/>
          <p:nvPr/>
        </p:nvSpPr>
        <p:spPr>
          <a:xfrm>
            <a:off x="822960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2C3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600200"/>
            <a:ext cx="1051560" cy="1051560"/>
          </a:xfrm>
          <a:prstGeom prst="ellipse">
            <a:avLst/>
          </a:prstGeom>
          <a:solidFill>
            <a:srgbClr val="C97A2B"/>
          </a:solidFill>
          <a:ln w="12700">
            <a:solidFill>
              <a:srgbClr val="C97A2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160020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2103120" y="1234440"/>
            <a:ext cx="65836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 es entstanden ist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2103120" y="278892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7CC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 Software-Projekt mit Lastenheft – ein Werkstattleiter und ein KI-Werkzeug, im Gespräch, Tag für Tag.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BTA-Cockpit · Instandhaltung digital in der Scheurich Group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822960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C3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Zwei Rollen, ein Gespräch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Werkstattleiter bringt den Alltag – Claude baut, prüft und dokumentiert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3931920" cy="3108960"/>
          </a:xfrm>
          <a:prstGeom prst="roundRect">
            <a:avLst>
              <a:gd name="adj" fmla="val 2941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7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Roberto – Werkstattleiter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874520"/>
            <a:ext cx="34747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Anforderungen aus dem Alltag: „so wie bei Excel“, „für die Morgenrunde“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am echten System – in der Werkstatt, mit echten Rechnern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Entscheidungen: was gebaut wird, was nicht, was wann eingeführt wird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Roll-out, Schulung der Kollegen, Rückmeldungen einsammeln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754880" y="1280160"/>
            <a:ext cx="3931920" cy="3108960"/>
          </a:xfrm>
          <a:prstGeom prst="roundRect">
            <a:avLst>
              <a:gd name="adj" fmla="val 2941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983480" y="14173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– KI-Werkzeug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983480" y="1874520"/>
            <a:ext cx="34747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Bau der Funktionen samt Tests, Doku und Druckvorlagen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Messen statt behaupten: jede Aussage wird nachgewiesen oder als ungemessen markiert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Vorschläge mit Vorschau – der Mensch wählt aus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Roll-out-Liste pflegen: offene Punkte, Stolpersteine, Erledigtes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B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BTA-Cockpit · Instandhaltung digital in der Scheurich Group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822960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C3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mir dabei wichtig war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Vier Regeln von Anfang an – sie stehen im Projekt und gelten für jede Änderung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4023360" cy="1417320"/>
          </a:xfrm>
          <a:prstGeom prst="roundRect">
            <a:avLst>
              <a:gd name="adj" fmla="val 6452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463040"/>
            <a:ext cx="457200" cy="457200"/>
          </a:xfrm>
          <a:prstGeom prst="ellipse">
            <a:avLst/>
          </a:prstGeom>
          <a:solidFill>
            <a:srgbClr val="C97A2B"/>
          </a:solidFill>
          <a:ln w="12700">
            <a:solidFill>
              <a:srgbClr val="C97A2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≡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144475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C3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Messen statt behaupten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178308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Jede Aussage über Verhalten (Browser, Dateien, Zeiten) wird nachgewiesen. Was nicht gemessen wurde, heißt „ungemessen“.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663440" y="1280160"/>
            <a:ext cx="4023360" cy="1417320"/>
          </a:xfrm>
          <a:prstGeom prst="roundRect">
            <a:avLst>
              <a:gd name="adj" fmla="val 6452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46320" y="1463040"/>
            <a:ext cx="457200" cy="457200"/>
          </a:xfrm>
          <a:prstGeom prst="ellipse">
            <a:avLst/>
          </a:prstGeom>
          <a:solidFill>
            <a:srgbClr val="1F7A3D"/>
          </a:solidFill>
          <a:ln w="12700">
            <a:solidFill>
              <a:srgbClr val="1F7A3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4632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5440680" y="144475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C3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Keine IT nötig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5440680" y="178308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Alles läuft ohne Adminrechte, ohne Installation, ohne Ticket. Das war die Bedingung, damit es überhaupt starten konnte.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2880360"/>
            <a:ext cx="4023360" cy="1417320"/>
          </a:xfrm>
          <a:prstGeom prst="roundRect">
            <a:avLst>
              <a:gd name="adj" fmla="val 6452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" y="3063240"/>
            <a:ext cx="457200" cy="45720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3063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1234440" y="304495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C3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Sync-Fehler sind ein No-Go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1234440" y="338328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Änderungen am Speichern oder Zusammenführen brauchen einen Test, der ohne die Änderung fehlschlägt.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663440" y="2880360"/>
            <a:ext cx="4023360" cy="1417320"/>
          </a:xfrm>
          <a:prstGeom prst="roundRect">
            <a:avLst>
              <a:gd name="adj" fmla="val 6452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46320" y="3063240"/>
            <a:ext cx="457200" cy="457200"/>
          </a:xfrm>
          <a:prstGeom prst="ellipse">
            <a:avLst/>
          </a:prstGeom>
          <a:solidFill>
            <a:srgbClr val="2F6690"/>
          </a:solidFill>
          <a:ln w="12700">
            <a:solidFill>
              <a:srgbClr val="2F669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846320" y="3063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5440680" y="304495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C3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Deutsch, mit dem Warum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5440680" y="338328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Oberfläche und Programmkommentare auf Deutsch – und jeder Kommentar erklärt, warum etwas so gebaut ist.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Dazu die Roll-out-Liste als Gedächtnis: Neue Aufgaben kommen sofort hinein, Erledigtes wandert nach unten – nichts wird gelöscht.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B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BTA-Cockpit · Instandhaltung digital in der Scheurich Group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822960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C3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kommunizieren wir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Alltagssprache, Bilder, Feedback-Runden – und am Ende immer ein geprüfter Stand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508760" cy="1920240"/>
          </a:xfrm>
          <a:prstGeom prst="roundRect">
            <a:avLst>
              <a:gd name="adj" fmla="val 6061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508760"/>
            <a:ext cx="411480" cy="411480"/>
          </a:xfrm>
          <a:prstGeom prst="ellipse">
            <a:avLst/>
          </a:prstGeom>
          <a:solidFill>
            <a:srgbClr val="C97A2B"/>
          </a:solidFill>
          <a:ln w="12700">
            <a:solidFill>
              <a:srgbClr val="C97A2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508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201168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C3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Anliegen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2304288"/>
            <a:ext cx="1280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Alltagssprache im Chat – gern mit Foto, Screenshot oder PDF-Scan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148840" y="1371600"/>
            <a:ext cx="1508760" cy="1920240"/>
          </a:xfrm>
          <a:prstGeom prst="roundRect">
            <a:avLst>
              <a:gd name="adj" fmla="val 6061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86000" y="1508760"/>
            <a:ext cx="411480" cy="411480"/>
          </a:xfrm>
          <a:prstGeom prst="ellipse">
            <a:avLst/>
          </a:prstGeom>
          <a:solidFill>
            <a:srgbClr val="C97A2B"/>
          </a:solidFill>
          <a:ln w="12700">
            <a:solidFill>
              <a:srgbClr val="C97A2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286000" y="1508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2286000" y="201168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C3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Vorschlag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2286000" y="2304288"/>
            <a:ext cx="1280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zeigt eine Vorschau oder mehrere Varianten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840480" y="1371600"/>
            <a:ext cx="1508760" cy="1920240"/>
          </a:xfrm>
          <a:prstGeom prst="roundRect">
            <a:avLst>
              <a:gd name="adj" fmla="val 6061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977640" y="1508760"/>
            <a:ext cx="411480" cy="411480"/>
          </a:xfrm>
          <a:prstGeom prst="ellipse">
            <a:avLst/>
          </a:prstGeom>
          <a:solidFill>
            <a:srgbClr val="C97A2B"/>
          </a:solidFill>
          <a:ln w="12700">
            <a:solidFill>
              <a:srgbClr val="C97A2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977640" y="1508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3977640" y="201168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C3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3977640" y="2304288"/>
            <a:ext cx="1280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lange nachbessern, bis es passt (Tagesbericht: sechs Runden)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532120" y="1371600"/>
            <a:ext cx="1508760" cy="1920240"/>
          </a:xfrm>
          <a:prstGeom prst="roundRect">
            <a:avLst>
              <a:gd name="adj" fmla="val 6061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669280" y="1508760"/>
            <a:ext cx="411480" cy="411480"/>
          </a:xfrm>
          <a:prstGeom prst="ellipse">
            <a:avLst/>
          </a:prstGeom>
          <a:solidFill>
            <a:srgbClr val="C97A2B"/>
          </a:solidFill>
          <a:ln w="12700">
            <a:solidFill>
              <a:srgbClr val="C97A2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669280" y="1508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5669280" y="201168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C3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Bau + Tests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5669280" y="2304288"/>
            <a:ext cx="1280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Funktion, Härtetest, ganze Suite grün, Doku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7223760" y="1371600"/>
            <a:ext cx="1508760" cy="1920240"/>
          </a:xfrm>
          <a:prstGeom prst="roundRect">
            <a:avLst>
              <a:gd name="adj" fmla="val 6061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360920" y="1508760"/>
            <a:ext cx="411480" cy="411480"/>
          </a:xfrm>
          <a:prstGeom prst="ellipse">
            <a:avLst/>
          </a:prstGeom>
          <a:solidFill>
            <a:srgbClr val="C97A2B"/>
          </a:solidFill>
          <a:ln w="12700">
            <a:solidFill>
              <a:srgbClr val="C97A2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360920" y="1508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7360920" y="201168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C3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7360920" y="2304288"/>
            <a:ext cx="1280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neue Fassung in den Update-Ordner – grüner Balken auf allen Rechnern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57200" y="3520440"/>
            <a:ext cx="8229600" cy="1005840"/>
          </a:xfrm>
          <a:prstGeom prst="roundRect">
            <a:avLst>
              <a:gd name="adj" fmla="val 9091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40080" y="358444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echtes Beispiel von dieser Woche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640080" y="3840480"/>
            <a:ext cx="7863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Mittwoch: Scan des Papier-Schichtprotokolls in den Chat → ins Cockpit-Format übertragen, sechs Feedback-Runden bis zum Morgenrunden-Blatt → Donnerstag in der Morgenrunde gezeigt („hat gepasst, bauen“) → am selben Tag fest in die App gebaut, mit Härtetest 74 abgesichert, Suite 73/73 grün, Update auf allen Rechnern.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B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BTA-Cockpit · Instandhaltung digital in der Scheurich Group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822960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C3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Auftrag im Wortlaut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 Pflichtenheft – ein Satz aus der Werkstatt, und was am selben Tag daraus wurde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4937760" cy="1371600"/>
          </a:xfrm>
          <a:prstGeom prst="roundRect">
            <a:avLst>
              <a:gd name="adj" fmla="val 8000"/>
            </a:avLst>
          </a:prstGeom>
          <a:solidFill>
            <a:srgbClr val="FDF6DF"/>
          </a:solidFill>
          <a:ln w="9525">
            <a:solidFill>
              <a:srgbClr val="E3CE8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371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4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Roberto, 15.09.: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645920"/>
            <a:ext cx="4572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„für bearbeiter eine option eine kachel mit einer ‚Notiz‘ zu versehen im schichtplan (wie bei excel) … außerdem wäre es cool wenn man in der übersicht ‚heute da‘ auch dementsprechend eine markierung sieht sollte dieser mitarbeiter an diesem tag eine notiz haben“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2834640"/>
            <a:ext cx="4937760" cy="1600200"/>
          </a:xfrm>
          <a:prstGeom prst="roundRect">
            <a:avLst>
              <a:gd name="adj" fmla="val 6857"/>
            </a:avLst>
          </a:prstGeom>
          <a:solidFill>
            <a:srgbClr val="EAF3EC"/>
          </a:solidFill>
          <a:ln w="9525">
            <a:solidFill>
              <a:srgbClr val="A9CDB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2926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5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Ergebnis am selben Tag: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3200400"/>
            <a:ext cx="457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Zellen-Notiz im Schichtplan mit rotem Eck und Hover – wie der Excel-Kommentar</a:t>
            </a:r>
            <a:endParaRPr lang="en-US" sz="10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Getrennte Datenart, damit Planungs-Notizen nicht im Schichtplan auftauchen (Robertos Nachbesserung)</a:t>
            </a:r>
            <a:endParaRPr lang="en-US" sz="10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Markierung bei „Heute da“ in der Übersicht</a:t>
            </a:r>
            <a:endParaRPr lang="en-US" sz="10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Härtetest 72 (28 Prüfungen) sichert alles ab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632704" y="1243584"/>
            <a:ext cx="3090672" cy="1964131"/>
          </a:xfrm>
          <a:prstGeom prst="roundRect">
            <a:avLst>
              <a:gd name="adj" fmla="val 2328"/>
            </a:avLst>
          </a:prstGeom>
          <a:solidFill>
            <a:srgbClr val="FFFFFF"/>
          </a:solidFill>
          <a:ln w="9525">
            <a:solidFill>
              <a:srgbClr val="D5D9D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2000"/>
              </a:srgbClr>
            </a:outerShdw>
          </a:effectLst>
        </p:spPr>
      </p:sp>
      <p:pic>
        <p:nvPicPr>
          <p:cNvPr id="11" name="Image 0" descr="/tmp/claude-0/-home-user-WerkstattKalender/8b2eab4a-3225-51dd-900c-dbf3d21c0a06/scratchpad/shots/02-schichtpl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0" y="1280160"/>
            <a:ext cx="3017520" cy="1890979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5669280" y="329184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 Ende der Vorstellung: ein Auftrag live – Roberto schreibt einen Prompt, wir schauen gemeinsam, was passiert.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B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BTA-Cockpit · Instandhaltung digital in der Scheurich Group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822960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C3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es gekostet hat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Ehrliche Rechnung – keine Lizenzen, kein Server, aber Arbeitszeit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1920240" cy="2011680"/>
          </a:xfrm>
          <a:prstGeom prst="roundRect">
            <a:avLst>
              <a:gd name="adj" fmla="val 4762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37160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0 €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210312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Software-Lizenzen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560320" y="1280160"/>
            <a:ext cx="1920240" cy="2011680"/>
          </a:xfrm>
          <a:prstGeom prst="roundRect">
            <a:avLst>
              <a:gd name="adj" fmla="val 4762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697480" y="137160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0 €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2697480" y="210312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Server, Hardware, IT-Aufwand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1280160"/>
            <a:ext cx="1920240" cy="2011680"/>
          </a:xfrm>
          <a:prstGeom prst="roundRect">
            <a:avLst>
              <a:gd name="adj" fmla="val 4762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00600" y="137160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4800600" y="210312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KI-Werkzeug im Monats-Abo statt Lizenz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766560" y="1280160"/>
            <a:ext cx="1920240" cy="2011680"/>
          </a:xfrm>
          <a:prstGeom prst="roundRect">
            <a:avLst>
              <a:gd name="adj" fmla="val 4762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903720" y="137160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97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Zeit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6903720" y="210312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Arbeitszeit des Werkstattleiters: Anforderungen, Tests am echten System, Einführung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35204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 gegenüber steht, was täglich wegfällt: Zettel suchen, Excel abgleichen, Nachweise zusammensuchen, Zuruf – und was neu da ist: Zahlen für die Morgenrunde, ein druckfertiger Prüfnachweis, ein Blick für alle.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B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BTA-Cockpit · Instandhaltung digital in der Scheurich Group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2C3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600200"/>
            <a:ext cx="1051560" cy="1051560"/>
          </a:xfrm>
          <a:prstGeom prst="ellipse">
            <a:avLst/>
          </a:prstGeom>
          <a:solidFill>
            <a:srgbClr val="C97A2B"/>
          </a:solidFill>
          <a:ln w="12700">
            <a:solidFill>
              <a:srgbClr val="C97A2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160020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2103120" y="1234440"/>
            <a:ext cx="65836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Nutzen für die Werkstatt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2103120" y="278892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7CC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eine Werkstatt bekommt, wie der Einstieg aussieht – und was das Cockpit bewusst nicht kann.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BTA-Cockpit · Instandhaltung digital in der Scheurich Group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822960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C3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eine Werkstatt bekommt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Dasselbe Programm, eigene Daten, gemeinsame Weiterentwicklung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4023360" cy="1417320"/>
          </a:xfrm>
          <a:prstGeom prst="roundRect">
            <a:avLst>
              <a:gd name="adj" fmla="val 6452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463040"/>
            <a:ext cx="457200" cy="457200"/>
          </a:xfrm>
          <a:prstGeom prst="ellipse">
            <a:avLst/>
          </a:prstGeom>
          <a:solidFill>
            <a:srgbClr val="1F7A3D"/>
          </a:solidFill>
          <a:ln w="12700">
            <a:solidFill>
              <a:srgbClr val="1F7A3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144475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C3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Sofort einsatzbereit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178308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Dasselbe erprobte Programm, in fünf Minuten je Rechner eingerichtet – mit eigenem, leerem Datenbestand.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663440" y="1280160"/>
            <a:ext cx="4023360" cy="1417320"/>
          </a:xfrm>
          <a:prstGeom prst="roundRect">
            <a:avLst>
              <a:gd name="adj" fmla="val 6452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46320" y="1463040"/>
            <a:ext cx="457200" cy="457200"/>
          </a:xfrm>
          <a:prstGeom prst="ellipse">
            <a:avLst/>
          </a:prstGeom>
          <a:solidFill>
            <a:srgbClr val="C97A2B"/>
          </a:solidFill>
          <a:ln w="12700">
            <a:solidFill>
              <a:srgbClr val="C97A2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4632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▤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5440680" y="144475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C3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Morgenrunde &amp; Nachweise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5440680" y="178308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Schichtbericht auf Knopfdruck, Prüfnachweis fürs Audit, Hallenmonitor für die Runde.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2880360"/>
            <a:ext cx="4023360" cy="1417320"/>
          </a:xfrm>
          <a:prstGeom prst="roundRect">
            <a:avLst>
              <a:gd name="adj" fmla="val 6452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" y="3063240"/>
            <a:ext cx="457200" cy="457200"/>
          </a:xfrm>
          <a:prstGeom prst="ellipse">
            <a:avLst/>
          </a:prstGeom>
          <a:solidFill>
            <a:srgbClr val="2F6690"/>
          </a:solidFill>
          <a:ln w="12700">
            <a:solidFill>
              <a:srgbClr val="2F669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3063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1234440" y="304495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C3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Eigene Stammdaten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1234440" y="338328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Anlagen, Team, Prüfpunkte, Kostenstellen im Verwalten – ohne Programmierung, ohne IT.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663440" y="2880360"/>
            <a:ext cx="4023360" cy="1417320"/>
          </a:xfrm>
          <a:prstGeom prst="roundRect">
            <a:avLst>
              <a:gd name="adj" fmla="val 6452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46320" y="3063240"/>
            <a:ext cx="457200" cy="457200"/>
          </a:xfrm>
          <a:prstGeom prst="ellipse">
            <a:avLst/>
          </a:prstGeom>
          <a:solidFill>
            <a:srgbClr val="2C3137"/>
          </a:solidFill>
          <a:ln w="12700">
            <a:solidFill>
              <a:srgbClr val="2C3137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846320" y="3063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5440680" y="304495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C3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Gemeinsame Updates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5440680" y="338328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Jede Verbesserung erreicht alle Werkstätten über den grünen Balken – Wünsche aus jeder Werkstatt fließen in dieselbe Roll-out-Liste.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B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BTA-Cockpit · Instandhaltung digital in der Scheurich Group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822960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C3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könnte der Einstieg aussehen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Vorschlag – Tempo und Umfang bestimmt die Werkstatt selbst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914400" y="1371600"/>
            <a:ext cx="594360" cy="594360"/>
          </a:xfrm>
          <a:prstGeom prst="ellipse">
            <a:avLst/>
          </a:prstGeom>
          <a:solidFill>
            <a:srgbClr val="C97A2B"/>
          </a:solidFill>
          <a:ln w="12700">
            <a:solidFill>
              <a:srgbClr val="C97A2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13716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508760" y="1664208"/>
            <a:ext cx="640080" cy="0"/>
          </a:xfrm>
          <a:prstGeom prst="line">
            <a:avLst/>
          </a:prstGeom>
          <a:noFill/>
          <a:ln w="19050">
            <a:solidFill>
              <a:srgbClr val="D5D9D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210312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C3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Erster Rechner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423160"/>
            <a:ext cx="1508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Werkzeug starten, Standort wählen, in der App die gemeinsame Datei einmalig anlegen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606040" y="1371600"/>
            <a:ext cx="594360" cy="594360"/>
          </a:xfrm>
          <a:prstGeom prst="ellipse">
            <a:avLst/>
          </a:prstGeom>
          <a:solidFill>
            <a:srgbClr val="2C3137"/>
          </a:solidFill>
          <a:ln w="12700">
            <a:solidFill>
              <a:srgbClr val="2C313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606040" y="13716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200400" y="1664208"/>
            <a:ext cx="640080" cy="0"/>
          </a:xfrm>
          <a:prstGeom prst="line">
            <a:avLst/>
          </a:prstGeom>
          <a:noFill/>
          <a:ln w="19050">
            <a:solidFill>
              <a:srgbClr val="D5D9D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148840" y="210312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C3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Stammdaten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2148840" y="2423160"/>
            <a:ext cx="1508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Anlagen, Team, Schichtarten, R+I-Punkte und Kostenstellen im Verwalten eintragen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297680" y="1371600"/>
            <a:ext cx="594360" cy="594360"/>
          </a:xfrm>
          <a:prstGeom prst="ellipse">
            <a:avLst/>
          </a:prstGeom>
          <a:solidFill>
            <a:srgbClr val="2C3137"/>
          </a:solidFill>
          <a:ln w="12700">
            <a:solidFill>
              <a:srgbClr val="2C3137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297680" y="13716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892040" y="1664208"/>
            <a:ext cx="640080" cy="0"/>
          </a:xfrm>
          <a:prstGeom prst="line">
            <a:avLst/>
          </a:prstGeom>
          <a:noFill/>
          <a:ln w="19050">
            <a:solidFill>
              <a:srgbClr val="D5D9D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840480" y="210312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C3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Weitere Rechner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3840480" y="2423160"/>
            <a:ext cx="1508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Werkstatt-Rechner als Bearbeiter, ein Leser-Bildschirm für die Morgenrunde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989320" y="1371600"/>
            <a:ext cx="594360" cy="594360"/>
          </a:xfrm>
          <a:prstGeom prst="ellipse">
            <a:avLst/>
          </a:prstGeom>
          <a:solidFill>
            <a:srgbClr val="2C3137"/>
          </a:solidFill>
          <a:ln w="12700">
            <a:solidFill>
              <a:srgbClr val="2C3137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989320" y="13716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583680" y="1664208"/>
            <a:ext cx="640080" cy="0"/>
          </a:xfrm>
          <a:prstGeom prst="line">
            <a:avLst/>
          </a:prstGeom>
          <a:noFill/>
          <a:ln w="19050">
            <a:solidFill>
              <a:srgbClr val="D5D9D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532120" y="210312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C3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Probelauf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5532120" y="2423160"/>
            <a:ext cx="1508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Zwei bis vier Wochen parallel zum Bisherigen – Störungen, Schichtplan, Morgenrunde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680960" y="1371600"/>
            <a:ext cx="594360" cy="594360"/>
          </a:xfrm>
          <a:prstGeom prst="ellipse">
            <a:avLst/>
          </a:prstGeom>
          <a:solidFill>
            <a:srgbClr val="2C3137"/>
          </a:solidFill>
          <a:ln w="12700">
            <a:solidFill>
              <a:srgbClr val="2C3137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680960" y="13716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7223760" y="210312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C3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Rückmeldung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7223760" y="2423160"/>
            <a:ext cx="1508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Wünsche und Stolpersteine in die Roll-out-Liste – Verbesserungen kommen per Update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3931920"/>
            <a:ext cx="8229600" cy="548640"/>
          </a:xfrm>
          <a:prstGeom prst="roundRect">
            <a:avLst>
              <a:gd name="adj" fmla="val 16667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40080" y="39319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Begleitung: Roberto richtet den ersten Rechner mit ein; Fragen und Wünsche laufen über denselben Chat, in dem das Cockpit weiterentwickelt wird.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B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BTA-Cockpit · Instandhaltung digital in der Scheurich Group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822960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C3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das Cockpit bewusst nicht kann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Ehrlich benannt – damit die Erwartung stimmt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8229600" cy="621792"/>
          </a:xfrm>
          <a:prstGeom prst="roundRect">
            <a:avLst>
              <a:gd name="adj" fmla="val 14706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453896"/>
            <a:ext cx="274320" cy="27432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4538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1335024"/>
            <a:ext cx="2926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C3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Ersatzteil-Lager mit Bestellwesen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4023360" y="1335024"/>
            <a:ext cx="4526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Nachbestellungen werden am Störbericht vermerkt – ein Lagersystem ist es nicht.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2011680"/>
            <a:ext cx="8229600" cy="621792"/>
          </a:xfrm>
          <a:prstGeom prst="roundRect">
            <a:avLst>
              <a:gd name="adj" fmla="val 14706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2185416"/>
            <a:ext cx="274320" cy="27432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" y="21854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2066544"/>
            <a:ext cx="2926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C3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Erfassung per QR-Code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4023360" y="2066544"/>
            <a:ext cx="4526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Cockpit lebt auf den Werkstatt-Rechnern; eine Handy-Fassung ist als Idee offen.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2743200"/>
            <a:ext cx="8229600" cy="621792"/>
          </a:xfrm>
          <a:prstGeom prst="roundRect">
            <a:avLst>
              <a:gd name="adj" fmla="val 14706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" y="2916936"/>
            <a:ext cx="274320" cy="27432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29169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2798064"/>
            <a:ext cx="2926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C3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Revisionssicherer Audit-Trail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4023360" y="2798064"/>
            <a:ext cx="4526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gibt einen Verlauf mit Urheber, aber keine unveränderbare Protokollierung.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57200" y="3474720"/>
            <a:ext cx="8229600" cy="621792"/>
          </a:xfrm>
          <a:prstGeom prst="roundRect">
            <a:avLst>
              <a:gd name="adj" fmla="val 14706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" y="3648456"/>
            <a:ext cx="274320" cy="27432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0080" y="36484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1051560" y="3529584"/>
            <a:ext cx="2926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C3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Zugriffskontrolle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4023360" y="3529584"/>
            <a:ext cx="4526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Rollen sind eine Leitplanke. Wer den Ordner öffnen darf, kommt an die Daten – die Sperre sind die Laufwerksrechte.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Grenze, ab der eine Kauf-Software die bessere Wahl wäre, steht in der Entscheidungsvorlage – bislang ist sie nicht erreicht.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B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BTA-Cockpit · Instandhaltung digital in der Scheurich Group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822960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9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2C3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4630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Fragen &amp; Diskussion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3317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7CC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 zum Schluss: ein Auftrag live – ein Satz im Chat, und wir schauen zu, was passiert.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9260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A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R. Ciraci · Werkstattleiter BTA Scheurich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3611880"/>
            <a:ext cx="26517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6" name="Image 0" descr="/home/user/WerkstattKalender/doku/logos/scheurich-group-haupt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3776472"/>
            <a:ext cx="237744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474720" y="3611880"/>
            <a:ext cx="137160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8" name="Image 1" descr="/home/user/WerkstattKalender/doku/logos/soendgen-kerami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5888" y="3675888"/>
            <a:ext cx="969264" cy="694944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BTA-Cockpit · Instandhaltung digital in der Scheurich Group</a:t>
            </a:r>
            <a:endParaRPr lang="en-US" sz="900" dirty="0"/>
          </a:p>
        </p:txBody>
      </p:sp>
      <p:sp>
        <p:nvSpPr>
          <p:cNvPr id="10" name="Text 6"/>
          <p:cNvSpPr txBox="1"/>
          <p:nvPr/>
        </p:nvSpPr>
        <p:spPr>
          <a:xfrm>
            <a:off x="822960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42</Slides>
  <Notes>42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BTA-Cockpit – Vorstellung</dc:title>
  <dc:subject>PptxGenJS Presentation</dc:subject>
  <dc:creator>R. Ciraci</dc:creator>
  <cp:lastModifiedBy>R. Ciraci</cp:lastModifiedBy>
  <cp:revision>1</cp:revision>
  <dcterms:created xsi:type="dcterms:W3CDTF">2026-09-19T06:25:56Z</dcterms:created>
  <dcterms:modified xsi:type="dcterms:W3CDTF">2026-09-19T06:25:56Z</dcterms:modified>
</cp:coreProperties>
</file>