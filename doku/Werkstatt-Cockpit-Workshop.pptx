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Ein Satz, worum es geht: Wir haben unsere gesamte Werkstatt-Organisation – Schichtplan, Schichtbuch, Wartung, OEE – in ein eigenes Programm gebracht. Seit Juli produktiv, seit dieser Woche komplett ohne OneDrive. Heute: 15 Minuten zeigen, was es kann, danach offene Runde.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die alte Welt beschreiben – jeder im Raum kennt sie: Papier-Schichtbuch, Excel, Zettel. Der Kernsatz: Es gab keinen Ort, an dem alles steht. Rechts die Antwort in einem 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die Nicht-Techniker: Es gibt keinen Server und keine Cloud. Jeder PC hat das Programm, alle arbeiten auf EINER Datei auf unserem Laufwerk. Die Software sorgt dafür, dass sich niemand gegenseitig überschreibt. Updates = eine Datei in einen Ordner legen.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sieht jeder beim Öffnen: fällige Wartungen, wer da ist, die OEE, die Pinnwand. Alles klickbar. Dieses Bild ist ein Beispiel-Datensatz, keine echten Namen von heute.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der Schichtplan als Monatsmatrix – Feiertage automatisch rot, hier Fronleichnam. Rechts die Wochenplanung: pro Tag, pro Person, der Wartungsplan wird automatisch eingeblendet. Beides druckt fertige Aushänge.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Herzstück im Alltag: das digitale Schichtbuch. Jede Störung bekommt eine Nummer, Ausfallzeit, Ursache, Ersatzteile. Der Unterschied zum Papier: Suchen. 'Was war letztes Mal am Hydraulikaggregat der TS480?' – zwei Sekunden.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Wartung und gesetzliche Prüfungen: Die Termine rechnen sich aus dem Rhythmus, nicht aus dem, was jemand einträgt – der Nachweis kann also nicht schummeln. Der Jahres-Prüfnachweis kommt auf Knopfdruck als druckfertiges Blatt.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OEE-Zahl kommt aus genau der Excel-Auswertung, die die Fertigung sowieso pflegt. Die App liest nur – niemals schreiben, das ist eingebaut und getestet. Klick auf die Kachel: Monats- und Jahresverlauf.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Rechte in drei Rollen, gepflegt von Leitung und Vertretung. Ehrlich dazugesagt: Das ist eine Leitplanke gegen Versehen – echtes Sperren machen die Laufwerksrechte der IT. Wichtig für die Runde: keine Cloud, nichts verlässt das Haus.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Punkt, der selbstgebaute Software von Bastelei unterscheidet: Vor jeder Auslieferung laufen 41 Testreihen mit rund 700 Prüfungen automatisch durch – inklusive der hässlichen Fälle. Jede Zahl ist im Projekt nachvollziehbar dokumentiert.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drei Zahlen. Wichtig: bewusst konservativ gerechnet, alle Annahmen offen. Und keine Schönrederei – die gelbe Box sagt, was das Werkzeug NICHT kann und wann wir kaufen würden. Die vollständige Herleitung liegt als Entscheidungsvorlage bei.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Abschluss: die vier vereinbarten nächsten Schritte, Quellen für alle Zahlen. Dann Überleitung in den Live-Teil: das Programm selbst zeigen und Fragen sammeln.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WERKSTATT-COCKPIT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Schichtbuch und Instandhaltung der Werkstatt – in einem Programm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· 26.08.2026 · R. Ciraci, Werkstattleitung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484632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2C3137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956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 2026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Einsatz seit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66160" y="484632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2C3137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4956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+ Leitung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74904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Arbeitsplätze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484632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2C3137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956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49224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Lizenzkosten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Vorher: vier Orte, keine gemeinsame Wahrheit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5212080" cy="841248"/>
          </a:xfrm>
          <a:prstGeom prst="roundRect">
            <a:avLst>
              <a:gd name="adj" fmla="val 6522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Papier-Schichtbuch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051560" y="218541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Störungen handschriftlich – schwer lesbar, nichts wiederzufinden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2752344"/>
            <a:ext cx="5212080" cy="841248"/>
          </a:xfrm>
          <a:prstGeom prst="roundRect">
            <a:avLst>
              <a:gd name="adj" fmla="val 6522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84378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Excel-Listen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51560" y="315468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Schichtplan und Planung in getrennten Dateien, jeder mit eigener Kopie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721608"/>
            <a:ext cx="5212080" cy="841248"/>
          </a:xfrm>
          <a:prstGeom prst="roundRect">
            <a:avLst>
              <a:gd name="adj" fmla="val 6522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81304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Zettel &amp; Zuruf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51560" y="41239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Übergaben zwischen den Schichten gingen verloren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4690872"/>
            <a:ext cx="5212080" cy="841248"/>
          </a:xfrm>
          <a:prstGeom prst="roundRect">
            <a:avLst>
              <a:gd name="adj" fmla="val 6522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7823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OneDrive-Ordner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51560" y="5093208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Sync-Verzug und Konfliktkopien beim gleichzeitigen Arbeiten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92240" y="1783080"/>
            <a:ext cx="4846320" cy="3931920"/>
          </a:xfrm>
          <a:prstGeom prst="roundRect">
            <a:avLst>
              <a:gd name="adj" fmla="val 1860"/>
            </a:avLst>
          </a:prstGeom>
          <a:solidFill>
            <a:srgbClr val="22262B"/>
          </a:solidFill>
          <a:ln/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251460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Programm. Eine gemeinsame Datei.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sehen denselben Stand – Änderungen erscheinen bei den Kollegen von selbst.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Schichtbuch, der Plan und die Wartung sind an einem Ort – und jeder Eintrag ist in Sekunden wiedergefunden.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 IN EINEM BILD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Server, keine Cloud – eine Datei im Firmennetz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1828800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 w="12700">
            <a:solidFill>
              <a:srgbClr val="C9CD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19019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554480" y="22311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Werkstattbüro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86200" y="2263140"/>
            <a:ext cx="2743200" cy="1028700"/>
          </a:xfrm>
          <a:prstGeom prst="line">
            <a:avLst/>
          </a:prstGeom>
          <a:noFill/>
          <a:ln w="19050">
            <a:solidFill>
              <a:srgbClr val="8A9099"/>
            </a:solidFill>
            <a:prstDash val="solid"/>
            <a:headEnd type="triangl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371600" y="2834640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 w="12700">
            <a:solidFill>
              <a:srgbClr val="C9CD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29077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554480" y="323697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Meisterbüro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86200" y="3268980"/>
            <a:ext cx="2743200" cy="22860"/>
          </a:xfrm>
          <a:prstGeom prst="line">
            <a:avLst/>
          </a:prstGeom>
          <a:noFill/>
          <a:ln w="19050">
            <a:solidFill>
              <a:srgbClr val="8A9099"/>
            </a:solidFill>
            <a:prstDash val="solid"/>
            <a:headEnd type="triangl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371600" y="3840480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 w="12700">
            <a:solidFill>
              <a:srgbClr val="C9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39136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554480" y="424281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Hallenbildschirm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V="1">
            <a:off x="3886200" y="3291840"/>
            <a:ext cx="2743200" cy="982980"/>
          </a:xfrm>
          <a:prstGeom prst="line">
            <a:avLst/>
          </a:prstGeom>
          <a:noFill/>
          <a:ln w="19050">
            <a:solidFill>
              <a:srgbClr val="8A9099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2514600"/>
            <a:ext cx="3291840" cy="1554480"/>
          </a:xfrm>
          <a:prstGeom prst="roundRect">
            <a:avLst>
              <a:gd name="adj" fmla="val 4706"/>
            </a:avLst>
          </a:prstGeom>
          <a:solidFill>
            <a:srgbClr val="22262B"/>
          </a:solidFill>
          <a:ln/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4088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Firmenlaufwerk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3063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gemeinsame Datendatei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die OEE-Excel der Fertigung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502920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Rechner hat das Programm – geöffnet wird immer dieselbe Datei auf dem Laufwerk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Änderungen werden Eintrag für Eintrag zusammengeführt – niemand überschreibt den anderen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Programmversionen: eine Datei in den Netzwerkordner legen, alle Rechner übernehmen sie von selbst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Daten verlassen das Haus nie – keine Cloud, kein Anbieter, keine Abhängigkeit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Übersicht: der Werkstatt-Morgen auf einen Blick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8096" y="1865376"/>
            <a:ext cx="7699248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6D9DC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pic>
        <p:nvPicPr>
          <p:cNvPr id="5" name="Image 0" descr="/tmp/claude-0/-home-user-WerkstattKalender/8b2eab4a-3225-51dd-900c-dbf3d21c0a06/scratchpad/ws-uebersicht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7589520" cy="3035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32520" y="1920240"/>
            <a:ext cx="2834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heute fällig, was blieb liegen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ist gerade da – je Schicht, live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OEE des Betriebs, direkt aus der Excel der Fertigung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Pinnwand für Übergaben – farblich je Verfasser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Schichtplan und Arbeitsplanung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8096" y="2093976"/>
            <a:ext cx="559612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6D9DC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pic>
        <p:nvPicPr>
          <p:cNvPr id="5" name="Image 0" descr="/tmp/claude-0/-home-user-WerkstattKalender/8b2eab4a-3225-51dd-900c-dbf3d21c0a06/scratchpad/vorschau-schichtpla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48840"/>
            <a:ext cx="5486400" cy="14447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83096" y="1591056"/>
            <a:ext cx="4956048" cy="3136392"/>
          </a:xfrm>
          <a:prstGeom prst="roundRect">
            <a:avLst>
              <a:gd name="adj" fmla="val 1749"/>
            </a:avLst>
          </a:prstGeom>
          <a:solidFill>
            <a:srgbClr val="FFFFFF"/>
          </a:solidFill>
          <a:ln w="12700">
            <a:solidFill>
              <a:srgbClr val="D6D9DC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pic>
        <p:nvPicPr>
          <p:cNvPr id="7" name="Image 1" descr="/tmp/claude-0/-home-user-WerkstattKalender/8b2eab4a-3225-51dd-900c-dbf3d21c0a06/scratchpad/vorschau-planu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45920"/>
            <a:ext cx="4846320" cy="30266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38404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Monatsmatrix – ein Klick je Zelle, Feiertage (Bayern) automatisch markiert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537960" y="4892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Wochenplanung je Tag und Person – Wartungsplan läuft automatisch mit, Aushang-Druck je KW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Schichtbuch: Störberichte statt Papier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8096" y="1865376"/>
            <a:ext cx="7699248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6D9DC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pic>
        <p:nvPicPr>
          <p:cNvPr id="5" name="Image 0" descr="/tmp/claude-0/-home-user-WerkstattKalender/8b2eab4a-3225-51dd-900c-dbf3d21c0a06/scratchpad/ws-stoerunge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7589520" cy="28437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32520" y="1828800"/>
            <a:ext cx="2834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Störung mit Nummer, Schicht, Anlage, Ursache, Ausfallzeit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Volltextsuche und Historie je Anlage – nichts geht mehr verloren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Ausfallzeiten, Häufungen, Mechanik/Elektrik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Einzelbericht als A4-Ausdruck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Melden darf jeder – auch ohne Schreibrecht auf den Rest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Wartung &amp; Inspektion mit fertigem Prüfnachweis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8096" y="1682496"/>
            <a:ext cx="7699248" cy="3813048"/>
          </a:xfrm>
          <a:prstGeom prst="roundRect">
            <a:avLst>
              <a:gd name="adj" fmla="val 1439"/>
            </a:avLst>
          </a:prstGeom>
          <a:solidFill>
            <a:srgbClr val="FFFFFF"/>
          </a:solidFill>
          <a:ln w="12700">
            <a:solidFill>
              <a:srgbClr val="D6D9DC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pic>
        <p:nvPicPr>
          <p:cNvPr id="5" name="Image 0" descr="/tmp/claude-0/-home-user-WerkstattKalender/8b2eab4a-3225-51dd-900c-dbf3d21c0a06/scratchpad/ws-tpm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7589520" cy="3703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32520" y="1920240"/>
            <a:ext cx="2834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Wiederkehrende Wartungen und R+I-Punkte mit eigener Terminlogik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Rhythmen überspringen Feiertage und Wochenenden automatisch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Prüfpunkt: Info, Rechtsgrundlage, Link – Nachschlagewerk inklusive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Jahres-Prüfnachweis auf Knopfdruck – vorzeigefertig gedruckt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OEE live – aus der Excel, die es schon gibt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25296" y="1591056"/>
            <a:ext cx="4956048" cy="4818888"/>
          </a:xfrm>
          <a:prstGeom prst="roundRect">
            <a:avLst>
              <a:gd name="adj" fmla="val 1139"/>
            </a:avLst>
          </a:prstGeom>
          <a:solidFill>
            <a:srgbClr val="FFFFFF"/>
          </a:solidFill>
          <a:ln w="12700">
            <a:solidFill>
              <a:srgbClr val="D6D9DC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pic>
        <p:nvPicPr>
          <p:cNvPr id="5" name="Image 0" descr="/tmp/claude-0/-home-user-WerkstattKalender/8b2eab4a-3225-51dd-900c-dbf3d21c0a06/scratchpad/ws-oee-pop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645920"/>
            <a:ext cx="4846320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675120" y="2103120"/>
            <a:ext cx="4663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Liest die bestehende OEE-Auswertung der Fertigung direkt vom Laufwerk – keine Doppel-Erfassung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Minute aktuell; in die Excel wird grundsätzlich NIE geschrieben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Klick auf die Kachel: Monats- und Jahresverlauf als Kurve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–"/>
            </a:pPr>
            <a:r>
              <a:rPr lang="en-US" sz="14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Nachgewiesen an der echten Pivot-Tabelle der Fertigung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ZUGRIFF &amp; SICHERHEIT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Benutzerrollen – und Daten, die im Haus bleiben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06056" y="1682496"/>
            <a:ext cx="3310128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D6D9DC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pic>
        <p:nvPicPr>
          <p:cNvPr id="5" name="Image 0" descr="/tmp/claude-0/-home-user-WerkstattKalender/8b2eab4a-3225-51dd-900c-dbf3d21c0a06/scratchpad/benutzer-anmeldung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737360"/>
            <a:ext cx="3200400" cy="2962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60920" y="48646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Anmeldung beim ersten Start – das Gerät merkt sich die Wahl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22960" y="178308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186537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Verwalter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51560" y="21854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+ Benutzer pflegen (Leitung + Vertretung)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2960" y="274320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254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Bearbeiter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051560" y="31455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eintragen und ändern – die tägliche Arbeit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22960" y="370332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51560" y="37856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Leser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051560" y="41056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ansehen; sieht z. B. nur veröffentlichte Aushänge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2960" y="489204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Anmeldung: grundsätzlich nur ansehen.  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außen (Internet) nicht erreichbar – kein Server, keine offenen Zugänge; die Daten liegen ausschließlich im Firmennetz, gesichert durch die IT-Laufwerksicherung.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Gemessen, nicht behauptet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2C3137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8483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017520" y="2148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Testsuiten – laufen vor jeder Auslieferung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2C3137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08483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700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412480" y="2148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Einzelprüfungen, Stand 10.08.: alle fehlerfrei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1188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2C3137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77647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017520" y="3840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Prüfungen zusätzlich am echten installierten Programm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61188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2C3137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377647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16 951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412480" y="3840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Einträge im Dauertest – sieben Jahrgänge Betriebsdaten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 Härtefälle: beschädigte Datei · falsch gehende Rechneruhr · zwei gleichzeitig offene Fenster · volle Speichergrenze · Laufwerk kurz weg. Quelle: Projekt-Repository (Prüfbericht, README).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FAKTEN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es gekostet hat – und was es spart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9659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3 000 €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5156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bis heute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 Lizenz + ca. 50 h Eigenleistung (intern bewertet)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80560" y="173736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09160" y="19659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40 000 €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470916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Ersatzwert der Entwicklung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916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40–60 Personentage à ≈ 840 € Marktsatz für IT-Entwicklung [1]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737360"/>
            <a:ext cx="3383280" cy="2286000"/>
          </a:xfrm>
          <a:prstGeom prst="roundRect">
            <a:avLst>
              <a:gd name="adj" fmla="val 3600"/>
            </a:avLst>
          </a:prstGeom>
          <a:solidFill>
            <a:srgbClr val="F5F6F7"/>
          </a:solidFill>
          <a:ln w="12700">
            <a:solidFill>
              <a:srgbClr val="E2E4E7"/>
            </a:solidFill>
            <a:prstDash val="solid"/>
          </a:ln>
          <a:effectLst>
            <a:outerShdw sx="100000" sy="100000" kx="0" ky="0" algn="bl" rotWithShape="0" blurRad="101600" dist="38100" dir="5400000">
              <a:srgbClr val="3A3F45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66760" y="19659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20 000 €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836676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im ersten Jahr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6676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vermiedene Kauf-Software [2][3] + konservativ gerechneter Zeitgewinn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4343400"/>
            <a:ext cx="10698480" cy="1417320"/>
          </a:xfrm>
          <a:prstGeom prst="roundRect">
            <a:avLst>
              <a:gd name="adj" fmla="val 5161"/>
            </a:avLst>
          </a:prstGeom>
          <a:solidFill>
            <a:srgbClr val="FBF3DA"/>
          </a:solidFill>
          <a:ln w="12700">
            <a:solidFill>
              <a:srgbClr val="E8B3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52628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7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Ehrlich dazugesagt – was es bewusst NICHT kann:  </a:t>
            </a:r>
            <a:endParaRPr lang="en-US" sz="1350" dirty="0"/>
          </a:p>
          <a:p>
            <a:pPr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Ersatzteil-Lager mit Bestellwesen · mobile Erfassung per QR-Code · Mehr-Standort-Betrieb · revisionssicherer Audit-Trail. Wird eine dieser Anforderungen real, stellen wir die Frage nach einer Kauf-Software neu – die offenen Daten machen einen Umstieg jederzeit verlustfrei möglich.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59436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Annahmen offen dokumentiert – Details und Herleitung: Entscheidungsvorlage für die Geschäftsführung. Marktpreise Kauf-Software (CMMS): 20–100 €/Nutzer/Monat, konkrete Pakete 69–80 €; Einführung 50–150 % der Jahreslizenz [2][3].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geht es weiter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55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IT: tägliche Sicherung des Datenordners bestätigen, Programm signieren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55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Vertretung einweisen, Betriebshandbuch für die IT erstellen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55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3 Monaten: Zeitgewinn mit echten Zahlen nachmessen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550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Jährliche Überprüfung – inklusive der Frage „selbst weiter oder kaufen?“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freelancermap, „Freelancer-Kompass 2025“ (ca. 6 000 Befragte): Ø 104–105 €/h für IT-Freiberufler ≈ 840 €/Personentag; berichtet u. a. von Computerwoche und heise online (2025).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remberg, „Was bestimmt die Kosten einer CMMS-Lösung?“: Pakete 69–80 €/Nutzer/Monat, Implementierung 50–150 % der Jahreslizenz (remberg.com, abgerufen 10.08.2026).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osapiens „Instandhaltungssoftware Vergleich 2026“ (20–100 €/Nutzer/Monat) und Streit Software „Anbieter 2026 im Vergleich“ (abgerufen 10.08.2026).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8CD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 Zahlen (Tests, Umfang, Betrieb): Projekt-Repository – README, Prüfbericht, Roll-out-Liste.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 Danach: Live-Rundgang durch das Programm.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2026-08-10T17:17:18Z</dcterms:created>
  <dcterms:modified xsi:type="dcterms:W3CDTF">2026-08-10T17:17:18Z</dcterms:modified>
</cp:coreProperties>
</file>